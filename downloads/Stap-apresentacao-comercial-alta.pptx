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notesMasterIdLst>
    <p:notesMasterId r:id="rId9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6950fe4-0554-7bee-1c9b-8094e348f04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Menu e clientes" id="{e37727cc-57ea-ca12-1076-fe5f6f02b1c5}">
          <p14:sldIdLst>
            <p14:sldId id="269"/>
            <p14:sldId id="270"/>
          </p14:sldIdLst>
        </p14:section>
        <p14:section name="Agronegócio" id="{6d23f88a-740e-f781-1be7-db752fdff5af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Automotivo" id="{fdf4b450-b440-d114-cec8-cf34e276a798}">
          <p14:sldIdLst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Consumo e varejo" id="{83222f0c-20fc-9b59-6891-4bd09b80d662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Indústria e corporativo" id="{d72e1a96-5b67-2041-30c5-e7e0234011d4}">
          <p14:sldIdLst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  <p14:section name="Fechamento" id="{cb74868a-31c2-b9ec-26e3-9c92f83a4cb7}">
          <p14:sldIdLst>
            <p14:sldId id="346"/>
            <p14:sldId id="347"/>
            <p14:sldId id="348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O statement da Stap; apresente-se e diga para quem é esta conversa.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de espera: deixe o vídeo rodando enquanto as pessoas chegam. Avance para a capa quando for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manifesto é o critério de tudo o que a Stap entrega. Leia a frase com calma antes de seguir para o filme.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Reel Stap, 56 segundos, com som. Clique na imagem para tocar. Se a reunião estiver curta, pule este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 de escala e de segurança de entrega. O dado mais forte para quem compra é o último: 7 montagens simultâneas no Circuito Agro.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em voz alta, devagar. É a ponte entre a crença e a prova: em seguida vem Do render ao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argumento central do novo posicionamento. A Stap projeta e constrói com o mesmo time: o que o cliente aprova no 3D é o que vai existir.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estande, no mesmo enquadramento: à esquerda o render aprovado, à direita o estande montado na Agrishow. No HTML, arraste o traço para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argumento comercial em uma frase: o risco de a experiência sair diferente do projeto é da Stap, não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frentes em uma tela. Na versão web, cada frente abre com um clique.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Processo, para passar rápido. Ênfase em controle e operação: relatórios diários e coordenação dos fornecedores pela própria Stap.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setores em que a Stap tem hub próprio e time especializado: Agro e Auto.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projetos em movimento antes de entrar nos cases. Os vídeos rodam sozinhos.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geral. Cada item é um link. Em qualquer slide, "Menu" e "Clientes" no canto inferior direito voltam para cá.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de clientes. Cada marca abre a página do cliente com todos os projetos.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próprio e mais de 25 anos no campo: circuitos, Agrishow, lançamentos e encontros técnicos.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Volkswagen.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Ambiente descontraído, com atendimento padrão Volkswagen.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Ambiente descontraído, com atendimento padrão Volkswagen.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Ford.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Parceria contínua de live marketing com a Ford no agro.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Parceria contínua de live marketing com a Ford no agro.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FMC.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Stap segue com a FMC no Circuito Agro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Stap segue com a FMC no Circuito Agro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BASF.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ilha de conteúdo interativa apresentou as soluções para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ilha de conteúdo interativa apresentou as soluções para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Grunner.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espaço de convivência no meio da maior feira do agro.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espaço de convivência no meio da maior feira do agro.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Corteva.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Projeto, produção e operação numa solução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Projeto, produção e operação numa solução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Integrado à área de plantio, com conteúdo e captação de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Integrado à área de plantio, com conteúdo e captação de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Cenografia e plateia em formato inovador.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Cenografia e plateia em formato inovador.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Participações da Ministra da Agricultura e de executivos de Corteva, Yara e AGCO.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Participações da Ministra da Agricultura e de executivos de Corteva, Yara e AGCO.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Syngenta.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Consherb, Consent e Consfit reunidos num evento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Consherb, Consent e Consfit reunidos num evento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Festivais, test-drives, autódromos, salões e lançamentos de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Logística, montagem, receptivo e apoio aos concessionários.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Logística, montagem, receptivo e apoio aos concessionários.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Toyota.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Inclui a edição GR Day Woman, focada no protagonismo feminino.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Inclui a edição GR Day Woman, focada no protagonismo feminino.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plantio de árvores ao longo do percurso.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plantio de árvores ao longo do percurso.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Apresentações culturais e oficinas de origami no showroom.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Apresentações culturais e oficinas de origami no showroom.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Ducati.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Concepção e execução completas pela Stap.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Concepção e execução completas pela Stap.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Harley-Davidson.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Performance, lifestyle e relacionamento com a comunidade.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Performance, lifestyle e relacionamento com a comunidade.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Petronas.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Grande exposição na imprensa.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Grande exposição na imprensa.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Alimentos, beleza, casa e tecnologia: marcas que precisam vender no ponto de venda.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Seara.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parceria de live marketing com a Seara.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Nova parceria de live marketing com a Seara.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Paulo, julho de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Paulo, julho de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PepsiCo.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Estande premiado pelo POPAI Brasil dois anos seguidos.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Estande premiado pelo POPAI Brasil dois anos seguidos.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OX Cosméticos.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dos atrativos da Beauty Fair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dos atrativos da Beauty Fair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Lorenzetti.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visita pensada como jornada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visita pensada como jornada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NuPay.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Conteúdos e palestras no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Conteúdos e palestras no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Feiras técnicas, convenções de vendas e eventos de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Braskem.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Parceria de mais de 15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Parceria de mais de 15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Sherwin-Williams.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Palestras, shows e atividades de integração.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Palestras, shows e atividades de integração.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Página de Mutant. Clique num projeto para abrir o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Palestras e uma jornada sobre tendências em 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Palestras e uma jornada sobre tendências em 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Confiança na entrega, relação de longo prazo e reconhecimento em feiras do país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Mais de 250 clientes desde 1992; aqui estão 35 das marcas.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Convide o cliente para conhecer a casa: é onde o time trabalha junto e onde o cliente é recebido para as reuniões de criação.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quem vai atender o cliente no dia a dia: contas, arquitetura, 3D e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um próximo passo concreto: um briefing ou uma visita à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" Target="slide14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9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7" Type="http://schemas.openxmlformats.org/officeDocument/2006/relationships/slide" Target="slide15.xml"/><Relationship Id="rId1" Type="http://schemas.openxmlformats.org/officeDocument/2006/relationships/image" Target="../media/image-5-1.jpg"/><Relationship Id="rId3" Type="http://schemas.openxmlformats.org/officeDocument/2006/relationships/image" Target="../media/image-3-4.png"/><Relationship Id="rId6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7" Type="http://schemas.openxmlformats.org/officeDocument/2006/relationships/slide" Target="slide15.xml"/><Relationship Id="rId1" Type="http://schemas.openxmlformats.org/officeDocument/2006/relationships/image" Target="../media/image-3-1.jpg"/><Relationship Id="rId3" Type="http://schemas.openxmlformats.org/officeDocument/2006/relationships/image" Target="../media/image-3-4.png"/><Relationship Id="rId6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7" Type="http://schemas.openxmlformats.org/officeDocument/2006/relationships/slide" Target="slide15.xml"/><Relationship Id="rId1" Type="http://schemas.openxmlformats.org/officeDocument/2006/relationships/image" Target="../media/image-3-1.jpg"/><Relationship Id="rId3" Type="http://schemas.openxmlformats.org/officeDocument/2006/relationships/image" Target="../media/image-3-4.png"/><Relationship Id="rId6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" Target="slide14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9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8" Type="http://schemas.openxmlformats.org/officeDocument/2006/relationships/slide" Target="slide15.xml"/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" Target="slide14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9" Type="http://schemas.openxmlformats.org/officeDocument/2006/relationships/slide" Target="slide15.xml"/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7" Type="http://schemas.openxmlformats.org/officeDocument/2006/relationships/slide" Target="slide15.xml"/><Relationship Id="rId1" Type="http://schemas.openxmlformats.org/officeDocument/2006/relationships/image" Target="../media/image-3-1.jpg"/><Relationship Id="rId3" Type="http://schemas.openxmlformats.org/officeDocument/2006/relationships/image" Target="../media/image-3-4.png"/><Relationship Id="rId6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1" Type="http://schemas.openxmlformats.org/officeDocument/2006/relationships/slide" Target="slide14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6" Type="http://schemas.openxmlformats.org/officeDocument/2006/relationships/slide" Target="slide15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4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2" Type="http://schemas.openxmlformats.org/officeDocument/2006/relationships/image" Target="../media/image-3-4.png"/><Relationship Id="rId15" Type="http://schemas.openxmlformats.org/officeDocument/2006/relationships/image" Target="../media/image-3-4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2" Type="http://schemas.openxmlformats.org/officeDocument/2006/relationships/slide" Target="slide14.xml"/><Relationship Id="rId14" Type="http://schemas.openxmlformats.org/officeDocument/2006/relationships/slide" Target="slide14.xml"/><Relationship Id="rId15" Type="http://schemas.openxmlformats.org/officeDocument/2006/relationships/slide" Target="slide15.xml"/><Relationship Id="rId17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video" Target="../media/media-13-2.mp4"/><Relationship Id="rId3" Type="http://schemas.microsoft.com/office/2007/relationships/media" Target="../media/media-13-2.mp4"/><Relationship Id="rId4" Type="http://schemas.openxmlformats.org/officeDocument/2006/relationships/image" Target="../media/image-13-4.png"/><Relationship Id="rId5" Type="http://schemas.openxmlformats.org/officeDocument/2006/relationships/video" Target="../media/media-13-5.mp4"/><Relationship Id="rId6" Type="http://schemas.microsoft.com/office/2007/relationships/media" Target="../media/media-13-5.mp4"/><Relationship Id="rId7" Type="http://schemas.openxmlformats.org/officeDocument/2006/relationships/image" Target="../media/image-13-7.png"/><Relationship Id="rId8" Type="http://schemas.openxmlformats.org/officeDocument/2006/relationships/image" Target="../media/image-13-8.jpg"/><Relationship Id="rId9" Type="http://schemas.openxmlformats.org/officeDocument/2006/relationships/video" Target="../media/media-13-9.mp4"/><Relationship Id="rId10" Type="http://schemas.microsoft.com/office/2007/relationships/media" Target="../media/media-13-9.mp4"/><Relationship Id="rId11" Type="http://schemas.openxmlformats.org/officeDocument/2006/relationships/image" Target="../media/image-13-11.png"/><Relationship Id="rId13" Type="http://schemas.openxmlformats.org/officeDocument/2006/relationships/image" Target="../media/image-3-4.png"/><Relationship Id="rId16" Type="http://schemas.openxmlformats.org/officeDocument/2006/relationships/image" Target="../media/image-3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7" Type="http://schemas.openxmlformats.org/officeDocument/2006/relationships/slide" Target="slide3.xml"/><Relationship Id="rId8" Type="http://schemas.openxmlformats.org/officeDocument/2006/relationships/slide" Target="slide4.xml"/><Relationship Id="rId10" Type="http://schemas.openxmlformats.org/officeDocument/2006/relationships/slide" Target="slide4.xml"/><Relationship Id="rId11" Type="http://schemas.openxmlformats.org/officeDocument/2006/relationships/slide" Target="slide5.xml"/><Relationship Id="rId13" Type="http://schemas.openxmlformats.org/officeDocument/2006/relationships/slide" Target="slide5.xml"/><Relationship Id="rId14" Type="http://schemas.openxmlformats.org/officeDocument/2006/relationships/slide" Target="slide7.xml"/><Relationship Id="rId16" Type="http://schemas.openxmlformats.org/officeDocument/2006/relationships/slide" Target="slide7.xml"/><Relationship Id="rId17" Type="http://schemas.openxmlformats.org/officeDocument/2006/relationships/slide" Target="slide10.xml"/><Relationship Id="rId19" Type="http://schemas.openxmlformats.org/officeDocument/2006/relationships/slide" Target="slide10.xml"/><Relationship Id="rId20" Type="http://schemas.openxmlformats.org/officeDocument/2006/relationships/slide" Target="slide12.xml"/><Relationship Id="rId22" Type="http://schemas.openxmlformats.org/officeDocument/2006/relationships/slide" Target="slide12.xml"/><Relationship Id="rId23" Type="http://schemas.openxmlformats.org/officeDocument/2006/relationships/slide" Target="slide13.xml"/><Relationship Id="rId25" Type="http://schemas.openxmlformats.org/officeDocument/2006/relationships/slide" Target="slide13.xml"/><Relationship Id="rId26" Type="http://schemas.openxmlformats.org/officeDocument/2006/relationships/slide" Target="slide15.xml"/><Relationship Id="rId28" Type="http://schemas.openxmlformats.org/officeDocument/2006/relationships/slide" Target="slide15.xml"/><Relationship Id="rId29" Type="http://schemas.openxmlformats.org/officeDocument/2006/relationships/slide" Target="slide16.xml"/><Relationship Id="rId31" Type="http://schemas.openxmlformats.org/officeDocument/2006/relationships/slide" Target="slide16.xml"/><Relationship Id="rId32" Type="http://schemas.openxmlformats.org/officeDocument/2006/relationships/slide" Target="slide44.xml"/><Relationship Id="rId34" Type="http://schemas.openxmlformats.org/officeDocument/2006/relationships/slide" Target="slide44.xml"/><Relationship Id="rId35" Type="http://schemas.openxmlformats.org/officeDocument/2006/relationships/slide" Target="slide63.xml"/><Relationship Id="rId37" Type="http://schemas.openxmlformats.org/officeDocument/2006/relationships/slide" Target="slide63.xml"/><Relationship Id="rId38" Type="http://schemas.openxmlformats.org/officeDocument/2006/relationships/slide" Target="slide81.xml"/><Relationship Id="rId40" Type="http://schemas.openxmlformats.org/officeDocument/2006/relationships/slide" Target="slide81.xml"/><Relationship Id="rId41" Type="http://schemas.openxmlformats.org/officeDocument/2006/relationships/slide" Target="slide91.xml"/><Relationship Id="rId43" Type="http://schemas.openxmlformats.org/officeDocument/2006/relationships/slide" Target="slide91.xml"/><Relationship Id="rId44" Type="http://schemas.openxmlformats.org/officeDocument/2006/relationships/slide" Target="slide93.xml"/><Relationship Id="rId46" Type="http://schemas.openxmlformats.org/officeDocument/2006/relationships/slide" Target="slide93.xml"/><Relationship Id="rId47" Type="http://schemas.openxmlformats.org/officeDocument/2006/relationships/slide" Target="slide94.xml"/><Relationship Id="rId49" Type="http://schemas.openxmlformats.org/officeDocument/2006/relationships/slide" Target="slide94.xml"/><Relationship Id="rId50" Type="http://schemas.openxmlformats.org/officeDocument/2006/relationships/slide" Target="slide95.xml"/><Relationship Id="rId52" Type="http://schemas.openxmlformats.org/officeDocument/2006/relationships/slide" Target="slide95.xml"/><Relationship Id="rId1" Type="http://schemas.openxmlformats.org/officeDocument/2006/relationships/image" Target="../media/image-3-1.jpg"/><Relationship Id="rId3" Type="http://schemas.openxmlformats.org/officeDocument/2006/relationships/image" Target="../media/image-3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5" Type="http://schemas.openxmlformats.org/officeDocument/2006/relationships/image" Target="../media/image-3-4.png"/><Relationship Id="rId18" Type="http://schemas.openxmlformats.org/officeDocument/2006/relationships/image" Target="../media/image-3-4.png"/><Relationship Id="rId21" Type="http://schemas.openxmlformats.org/officeDocument/2006/relationships/image" Target="../media/image-3-4.png"/><Relationship Id="rId24" Type="http://schemas.openxmlformats.org/officeDocument/2006/relationships/image" Target="../media/image-3-4.png"/><Relationship Id="rId27" Type="http://schemas.openxmlformats.org/officeDocument/2006/relationships/image" Target="../media/image-3-4.png"/><Relationship Id="rId30" Type="http://schemas.openxmlformats.org/officeDocument/2006/relationships/image" Target="../media/image-3-4.png"/><Relationship Id="rId33" Type="http://schemas.openxmlformats.org/officeDocument/2006/relationships/image" Target="../media/image-3-4.png"/><Relationship Id="rId36" Type="http://schemas.openxmlformats.org/officeDocument/2006/relationships/image" Target="../media/image-3-4.png"/><Relationship Id="rId39" Type="http://schemas.openxmlformats.org/officeDocument/2006/relationships/image" Target="../media/image-3-4.png"/><Relationship Id="rId42" Type="http://schemas.openxmlformats.org/officeDocument/2006/relationships/image" Target="../media/image-3-4.png"/><Relationship Id="rId45" Type="http://schemas.openxmlformats.org/officeDocument/2006/relationships/image" Target="../media/image-3-4.png"/><Relationship Id="rId48" Type="http://schemas.openxmlformats.org/officeDocument/2006/relationships/image" Target="../media/image-3-4.png"/><Relationship Id="rId51" Type="http://schemas.openxmlformats.org/officeDocument/2006/relationships/image" Target="../media/image-3-4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5" Type="http://schemas.openxmlformats.org/officeDocument/2006/relationships/slide" Target="slide26.xml"/><Relationship Id="rId7" Type="http://schemas.openxmlformats.org/officeDocument/2006/relationships/slide" Target="slide82.xml"/><Relationship Id="rId9" Type="http://schemas.openxmlformats.org/officeDocument/2006/relationships/slide" Target="slide82.xml"/><Relationship Id="rId11" Type="http://schemas.openxmlformats.org/officeDocument/2006/relationships/slide" Target="slide32.xml"/><Relationship Id="rId13" Type="http://schemas.openxmlformats.org/officeDocument/2006/relationships/slide" Target="slide32.xml"/><Relationship Id="rId15" Type="http://schemas.openxmlformats.org/officeDocument/2006/relationships/slide" Target="slide54.xml"/><Relationship Id="rId17" Type="http://schemas.openxmlformats.org/officeDocument/2006/relationships/slide" Target="slide54.xml"/><Relationship Id="rId19" Type="http://schemas.openxmlformats.org/officeDocument/2006/relationships/slide" Target="slide23.xml"/><Relationship Id="rId21" Type="http://schemas.openxmlformats.org/officeDocument/2006/relationships/slide" Target="slide23.xml"/><Relationship Id="rId23" Type="http://schemas.openxmlformats.org/officeDocument/2006/relationships/slide" Target="slide20.xml"/><Relationship Id="rId25" Type="http://schemas.openxmlformats.org/officeDocument/2006/relationships/slide" Target="slide20.xml"/><Relationship Id="rId27" Type="http://schemas.openxmlformats.org/officeDocument/2006/relationships/slide" Target="slide29.xml"/><Relationship Id="rId29" Type="http://schemas.openxmlformats.org/officeDocument/2006/relationships/slide" Target="slide57.xml"/><Relationship Id="rId31" Type="http://schemas.openxmlformats.org/officeDocument/2006/relationships/slide" Target="slide57.xml"/><Relationship Id="rId33" Type="http://schemas.openxmlformats.org/officeDocument/2006/relationships/slide" Target="slide75.xml"/><Relationship Id="rId35" Type="http://schemas.openxmlformats.org/officeDocument/2006/relationships/slide" Target="slide75.xml"/><Relationship Id="rId37" Type="http://schemas.openxmlformats.org/officeDocument/2006/relationships/slide" Target="slide88.xml"/><Relationship Id="rId39" Type="http://schemas.openxmlformats.org/officeDocument/2006/relationships/slide" Target="slide88.xml"/><Relationship Id="rId41" Type="http://schemas.openxmlformats.org/officeDocument/2006/relationships/slide" Target="slide78.xml"/><Relationship Id="rId43" Type="http://schemas.openxmlformats.org/officeDocument/2006/relationships/slide" Target="slide78.xml"/><Relationship Id="rId45" Type="http://schemas.openxmlformats.org/officeDocument/2006/relationships/slide" Target="slide72.xml"/><Relationship Id="rId47" Type="http://schemas.openxmlformats.org/officeDocument/2006/relationships/slide" Target="slide69.xml"/><Relationship Id="rId49" Type="http://schemas.openxmlformats.org/officeDocument/2006/relationships/slide" Target="slide69.xml"/><Relationship Id="rId51" Type="http://schemas.openxmlformats.org/officeDocument/2006/relationships/slide" Target="slide60.xml"/><Relationship Id="rId53" Type="http://schemas.openxmlformats.org/officeDocument/2006/relationships/slide" Target="slide60.xml"/><Relationship Id="rId55" Type="http://schemas.openxmlformats.org/officeDocument/2006/relationships/slide" Target="slide64.xml"/><Relationship Id="rId57" Type="http://schemas.openxmlformats.org/officeDocument/2006/relationships/slide" Target="slide85.xml"/><Relationship Id="rId59" Type="http://schemas.openxmlformats.org/officeDocument/2006/relationships/slide" Target="slide85.xml"/><Relationship Id="rId61" Type="http://schemas.openxmlformats.org/officeDocument/2006/relationships/slide" Target="slide41.xml"/><Relationship Id="rId63" Type="http://schemas.openxmlformats.org/officeDocument/2006/relationships/slide" Target="slide47.xml"/><Relationship Id="rId65" Type="http://schemas.openxmlformats.org/officeDocument/2006/relationships/slide" Target="slide47.xml"/><Relationship Id="rId67" Type="http://schemas.openxmlformats.org/officeDocument/2006/relationships/slide" Target="slide17.xml"/><Relationship Id="rId69" Type="http://schemas.openxmlformats.org/officeDocument/2006/relationships/slide" Target="slide17.xml"/><Relationship Id="rId70" Type="http://schemas.openxmlformats.org/officeDocument/2006/relationships/slide" Target="slide14.xml"/><Relationship Id="rId72" Type="http://schemas.openxmlformats.org/officeDocument/2006/relationships/slide" Target="slide14.xml"/><Relationship Id="rId73" Type="http://schemas.openxmlformats.org/officeDocument/2006/relationships/slide" Target="slide15.xml"/><Relationship Id="rId75" Type="http://schemas.openxmlformats.org/officeDocument/2006/relationships/slide" Target="slide15.xml"/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4" Type="http://schemas.openxmlformats.org/officeDocument/2006/relationships/image" Target="../media/image-3-4.png"/><Relationship Id="rId6" Type="http://schemas.openxmlformats.org/officeDocument/2006/relationships/image" Target="../media/image-15-4.png"/><Relationship Id="rId8" Type="http://schemas.openxmlformats.org/officeDocument/2006/relationships/image" Target="../media/image-3-4.png"/><Relationship Id="rId10" Type="http://schemas.openxmlformats.org/officeDocument/2006/relationships/image" Target="../media/image-15-6.png"/><Relationship Id="rId12" Type="http://schemas.openxmlformats.org/officeDocument/2006/relationships/image" Target="../media/image-3-4.png"/><Relationship Id="rId14" Type="http://schemas.openxmlformats.org/officeDocument/2006/relationships/image" Target="../media/image-15-8.png"/><Relationship Id="rId16" Type="http://schemas.openxmlformats.org/officeDocument/2006/relationships/image" Target="../media/image-3-4.png"/><Relationship Id="rId18" Type="http://schemas.openxmlformats.org/officeDocument/2006/relationships/image" Target="../media/image-15-10.png"/><Relationship Id="rId20" Type="http://schemas.openxmlformats.org/officeDocument/2006/relationships/image" Target="../media/image-3-4.png"/><Relationship Id="rId22" Type="http://schemas.openxmlformats.org/officeDocument/2006/relationships/image" Target="../media/image-15-12.png"/><Relationship Id="rId24" Type="http://schemas.openxmlformats.org/officeDocument/2006/relationships/image" Target="../media/image-3-4.png"/><Relationship Id="rId26" Type="http://schemas.openxmlformats.org/officeDocument/2006/relationships/image" Target="../media/image-3-4.png"/><Relationship Id="rId28" Type="http://schemas.openxmlformats.org/officeDocument/2006/relationships/image" Target="../media/image-15-15.png"/><Relationship Id="rId30" Type="http://schemas.openxmlformats.org/officeDocument/2006/relationships/image" Target="../media/image-3-4.png"/><Relationship Id="rId32" Type="http://schemas.openxmlformats.org/officeDocument/2006/relationships/image" Target="../media/image-15-17.png"/><Relationship Id="rId34" Type="http://schemas.openxmlformats.org/officeDocument/2006/relationships/image" Target="../media/image-3-4.png"/><Relationship Id="rId36" Type="http://schemas.openxmlformats.org/officeDocument/2006/relationships/image" Target="../media/image-15-19.png"/><Relationship Id="rId38" Type="http://schemas.openxmlformats.org/officeDocument/2006/relationships/image" Target="../media/image-3-4.png"/><Relationship Id="rId40" Type="http://schemas.openxmlformats.org/officeDocument/2006/relationships/image" Target="../media/image-15-21.png"/><Relationship Id="rId42" Type="http://schemas.openxmlformats.org/officeDocument/2006/relationships/image" Target="../media/image-3-4.png"/><Relationship Id="rId44" Type="http://schemas.openxmlformats.org/officeDocument/2006/relationships/image" Target="../media/image-3-4.png"/><Relationship Id="rId46" Type="http://schemas.openxmlformats.org/officeDocument/2006/relationships/image" Target="../media/image-15-24.png"/><Relationship Id="rId48" Type="http://schemas.openxmlformats.org/officeDocument/2006/relationships/image" Target="../media/image-3-4.png"/><Relationship Id="rId50" Type="http://schemas.openxmlformats.org/officeDocument/2006/relationships/image" Target="../media/image-15-26.png"/><Relationship Id="rId52" Type="http://schemas.openxmlformats.org/officeDocument/2006/relationships/image" Target="../media/image-3-4.png"/><Relationship Id="rId54" Type="http://schemas.openxmlformats.org/officeDocument/2006/relationships/image" Target="../media/image-3-4.png"/><Relationship Id="rId56" Type="http://schemas.openxmlformats.org/officeDocument/2006/relationships/image" Target="../media/image-15-29.png"/><Relationship Id="rId58" Type="http://schemas.openxmlformats.org/officeDocument/2006/relationships/image" Target="../media/image-3-4.png"/><Relationship Id="rId60" Type="http://schemas.openxmlformats.org/officeDocument/2006/relationships/image" Target="../media/image-3-4.png"/><Relationship Id="rId62" Type="http://schemas.openxmlformats.org/officeDocument/2006/relationships/image" Target="../media/image-15-32.png"/><Relationship Id="rId64" Type="http://schemas.openxmlformats.org/officeDocument/2006/relationships/image" Target="../media/image-3-4.png"/><Relationship Id="rId66" Type="http://schemas.openxmlformats.org/officeDocument/2006/relationships/image" Target="../media/image-15-34.png"/><Relationship Id="rId68" Type="http://schemas.openxmlformats.org/officeDocument/2006/relationships/image" Target="../media/image-3-4.png"/><Relationship Id="rId71" Type="http://schemas.openxmlformats.org/officeDocument/2006/relationships/image" Target="../media/image-3-4.png"/><Relationship Id="rId74" Type="http://schemas.openxmlformats.org/officeDocument/2006/relationships/image" Target="../media/image-3-4.png"/><Relationship Id="rId76" Type="http://schemas.openxmlformats.org/officeDocument/2006/relationships/slideLayout" Target="../slideLayouts/slideLayout1.xml"/><Relationship Id="rId7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8" Type="http://schemas.openxmlformats.org/officeDocument/2006/relationships/slide" Target="slide15.xml"/><Relationship Id="rId10" Type="http://schemas.openxmlformats.org/officeDocument/2006/relationships/slide" Target="slide17.xml"/><Relationship Id="rId12" Type="http://schemas.openxmlformats.org/officeDocument/2006/relationships/slide" Target="slide20.xml"/><Relationship Id="rId14" Type="http://schemas.openxmlformats.org/officeDocument/2006/relationships/slide" Target="slide23.xml"/><Relationship Id="rId16" Type="http://schemas.openxmlformats.org/officeDocument/2006/relationships/slide" Target="slide26.xml"/><Relationship Id="rId18" Type="http://schemas.openxmlformats.org/officeDocument/2006/relationships/slide" Target="slide29.xml"/><Relationship Id="rId20" Type="http://schemas.openxmlformats.org/officeDocument/2006/relationships/slide" Target="slide32.xml"/><Relationship Id="rId22" Type="http://schemas.openxmlformats.org/officeDocument/2006/relationships/slide" Target="slide41.xml"/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9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image" Target="../media/image-3-4.png"/><Relationship Id="rId17" Type="http://schemas.openxmlformats.org/officeDocument/2006/relationships/image" Target="../media/image-3-4.png"/><Relationship Id="rId19" Type="http://schemas.openxmlformats.org/officeDocument/2006/relationships/image" Target="../media/image-3-4.png"/><Relationship Id="rId21" Type="http://schemas.openxmlformats.org/officeDocument/2006/relationships/image" Target="../media/image-3-4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" Target="slide18.xml"/><Relationship Id="rId5" Type="http://schemas.openxmlformats.org/officeDocument/2006/relationships/slide" Target="slide18.xml"/><Relationship Id="rId7" Type="http://schemas.openxmlformats.org/officeDocument/2006/relationships/slide" Target="slide45.xml"/><Relationship Id="rId8" Type="http://schemas.openxmlformats.org/officeDocument/2006/relationships/slide" Target="slide45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4.png"/><Relationship Id="rId3" Type="http://schemas.openxmlformats.org/officeDocument/2006/relationships/image" Target="../media/image-17-3.jpg"/><Relationship Id="rId6" Type="http://schemas.openxmlformats.org/officeDocument/2006/relationships/image" Target="../media/image-17-4.jp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" Target="slide17.xml"/><Relationship Id="rId8" Type="http://schemas.openxmlformats.org/officeDocument/2006/relationships/slide" Target="slide17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video" Target="../media/media-18-3.mp4"/><Relationship Id="rId4" Type="http://schemas.microsoft.com/office/2007/relationships/media" Target="../media/media-18-3.mp4"/><Relationship Id="rId5" Type="http://schemas.openxmlformats.org/officeDocument/2006/relationships/image" Target="../media/image-18-5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17.xml"/><Relationship Id="rId7" Type="http://schemas.openxmlformats.org/officeDocument/2006/relationships/slide" Target="slide1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" Target="slide21.xml"/><Relationship Id="rId5" Type="http://schemas.openxmlformats.org/officeDocument/2006/relationships/slide" Target="slide21.xml"/><Relationship Id="rId6" Type="http://schemas.openxmlformats.org/officeDocument/2006/relationships/slide" Target="slide21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5.png"/><Relationship Id="rId3" Type="http://schemas.openxmlformats.org/officeDocument/2006/relationships/image" Target="../media/image-20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" Target="slide20.xml"/><Relationship Id="rId6" Type="http://schemas.openxmlformats.org/officeDocument/2006/relationships/slide" Target="slide20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" Target="slide20.xml"/><Relationship Id="rId8" Type="http://schemas.openxmlformats.org/officeDocument/2006/relationships/slide" Target="slide20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" Target="slide24.xml"/><Relationship Id="rId5" Type="http://schemas.openxmlformats.org/officeDocument/2006/relationships/slide" Target="slide24.xml"/><Relationship Id="rId6" Type="http://schemas.openxmlformats.org/officeDocument/2006/relationships/slide" Target="slide24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1.png"/><Relationship Id="rId3" Type="http://schemas.openxmlformats.org/officeDocument/2006/relationships/image" Target="../media/image-23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" Target="slide23.xml"/><Relationship Id="rId8" Type="http://schemas.openxmlformats.org/officeDocument/2006/relationships/slide" Target="slide23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24-1.jpg"/><Relationship Id="rId2" Type="http://schemas.openxmlformats.org/officeDocument/2006/relationships/image" Target="../media/image-18-2.png"/><Relationship Id="rId3" Type="http://schemas.openxmlformats.org/officeDocument/2006/relationships/video" Target="../media/media-24-3.mp4"/><Relationship Id="rId4" Type="http://schemas.microsoft.com/office/2007/relationships/media" Target="../media/media-24-3.mp4"/><Relationship Id="rId5" Type="http://schemas.openxmlformats.org/officeDocument/2006/relationships/image" Target="../media/image-24-5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" Target="slide23.xml"/><Relationship Id="rId8" Type="http://schemas.openxmlformats.org/officeDocument/2006/relationships/slide" Target="slide23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image" Target="../media/image-25-4.jpg"/><Relationship Id="rId5" Type="http://schemas.openxmlformats.org/officeDocument/2006/relationships/image" Target="../media/image-25-5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" Target="slide27.xml"/><Relationship Id="rId5" Type="http://schemas.openxmlformats.org/officeDocument/2006/relationships/slide" Target="slide27.xml"/><Relationship Id="rId6" Type="http://schemas.openxmlformats.org/officeDocument/2006/relationships/slide" Target="slide27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3.png"/><Relationship Id="rId3" Type="http://schemas.openxmlformats.org/officeDocument/2006/relationships/image" Target="../media/image-26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6.xml"/><Relationship Id="rId7" Type="http://schemas.openxmlformats.org/officeDocument/2006/relationships/slide" Target="slide26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" Target="slide26.xml"/><Relationship Id="rId6" Type="http://schemas.openxmlformats.org/officeDocument/2006/relationships/slide" Target="slide26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4" Type="http://schemas.openxmlformats.org/officeDocument/2006/relationships/slide" Target="slide30.xml"/><Relationship Id="rId5" Type="http://schemas.openxmlformats.org/officeDocument/2006/relationships/slide" Target="slide30.xml"/><Relationship Id="rId6" Type="http://schemas.openxmlformats.org/officeDocument/2006/relationships/slide" Target="slide14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1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29-2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" Target="slide29.xml"/><Relationship Id="rId8" Type="http://schemas.openxmlformats.org/officeDocument/2006/relationships/slide" Target="slide29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30-1.jpg"/><Relationship Id="rId2" Type="http://schemas.openxmlformats.org/officeDocument/2006/relationships/image" Target="../media/image-18-2.png"/><Relationship Id="rId3" Type="http://schemas.openxmlformats.org/officeDocument/2006/relationships/video" Target="../media/media-30-3.mp4"/><Relationship Id="rId4" Type="http://schemas.microsoft.com/office/2007/relationships/media" Target="../media/media-30-3.mp4"/><Relationship Id="rId5" Type="http://schemas.openxmlformats.org/officeDocument/2006/relationships/image" Target="../media/image-30-5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" Target="slide29.xml"/><Relationship Id="rId6" Type="http://schemas.openxmlformats.org/officeDocument/2006/relationships/slide" Target="slide29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" Target="slide33.xml"/><Relationship Id="rId5" Type="http://schemas.openxmlformats.org/officeDocument/2006/relationships/slide" Target="slide33.xml"/><Relationship Id="rId7" Type="http://schemas.openxmlformats.org/officeDocument/2006/relationships/slide" Target="slide35.xml"/><Relationship Id="rId8" Type="http://schemas.openxmlformats.org/officeDocument/2006/relationships/slide" Target="slide35.xml"/><Relationship Id="rId10" Type="http://schemas.openxmlformats.org/officeDocument/2006/relationships/slide" Target="slide37.xml"/><Relationship Id="rId11" Type="http://schemas.openxmlformats.org/officeDocument/2006/relationships/slide" Target="slide37.xml"/><Relationship Id="rId13" Type="http://schemas.openxmlformats.org/officeDocument/2006/relationships/slide" Target="slide39.xml"/><Relationship Id="rId14" Type="http://schemas.openxmlformats.org/officeDocument/2006/relationships/slide" Target="slide39.xml"/><Relationship Id="rId15" Type="http://schemas.openxmlformats.org/officeDocument/2006/relationships/slide" Target="slide14.xml"/><Relationship Id="rId17" Type="http://schemas.openxmlformats.org/officeDocument/2006/relationships/slide" Target="slide14.xml"/><Relationship Id="rId18" Type="http://schemas.openxmlformats.org/officeDocument/2006/relationships/slide" Target="slide15.xml"/><Relationship Id="rId20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2.png"/><Relationship Id="rId3" Type="http://schemas.openxmlformats.org/officeDocument/2006/relationships/image" Target="../media/image-32-3.jpg"/><Relationship Id="rId6" Type="http://schemas.openxmlformats.org/officeDocument/2006/relationships/image" Target="../media/image-32-4.jpg"/><Relationship Id="rId9" Type="http://schemas.openxmlformats.org/officeDocument/2006/relationships/image" Target="../media/image-32-5.jpg"/><Relationship Id="rId12" Type="http://schemas.openxmlformats.org/officeDocument/2006/relationships/image" Target="../media/image-32-6.jpg"/><Relationship Id="rId16" Type="http://schemas.openxmlformats.org/officeDocument/2006/relationships/image" Target="../media/image-3-4.png"/><Relationship Id="rId19" Type="http://schemas.openxmlformats.org/officeDocument/2006/relationships/image" Target="../media/image-3-4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" Target="slide32.xml"/><Relationship Id="rId6" Type="http://schemas.openxmlformats.org/officeDocument/2006/relationships/slide" Target="slide32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33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32.xml"/><Relationship Id="rId7" Type="http://schemas.openxmlformats.org/officeDocument/2006/relationships/slide" Target="slide32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image" Target="../media/image-34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32.xml"/><Relationship Id="rId7" Type="http://schemas.openxmlformats.org/officeDocument/2006/relationships/slide" Target="slide32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35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" Target="slide32.xml"/><Relationship Id="rId6" Type="http://schemas.openxmlformats.org/officeDocument/2006/relationships/slide" Target="slide32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image" Target="../media/image-36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" Target="slide32.xml"/><Relationship Id="rId6" Type="http://schemas.openxmlformats.org/officeDocument/2006/relationships/slide" Target="slide32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37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32.xml"/><Relationship Id="rId7" Type="http://schemas.openxmlformats.org/officeDocument/2006/relationships/slide" Target="slide32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image" Target="../media/image-38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32.xml"/><Relationship Id="rId7" Type="http://schemas.openxmlformats.org/officeDocument/2006/relationships/slide" Target="slide32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39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32.xml"/><Relationship Id="rId7" Type="http://schemas.openxmlformats.org/officeDocument/2006/relationships/slide" Target="slide32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image" Target="../media/image-40-3.jpg"/><Relationship Id="rId4" Type="http://schemas.openxmlformats.org/officeDocument/2006/relationships/image" Target="../media/image-40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4" Type="http://schemas.openxmlformats.org/officeDocument/2006/relationships/slide" Target="slide42.xml"/><Relationship Id="rId5" Type="http://schemas.openxmlformats.org/officeDocument/2006/relationships/slide" Target="slide42.xml"/><Relationship Id="rId6" Type="http://schemas.openxmlformats.org/officeDocument/2006/relationships/slide" Target="slide14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1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41-2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" Target="slide41.xml"/><Relationship Id="rId8" Type="http://schemas.openxmlformats.org/officeDocument/2006/relationships/slide" Target="slide41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42-1.jpg"/><Relationship Id="rId2" Type="http://schemas.openxmlformats.org/officeDocument/2006/relationships/image" Target="../media/image-18-2.png"/><Relationship Id="rId3" Type="http://schemas.openxmlformats.org/officeDocument/2006/relationships/video" Target="../media/media-13-5.mp4"/><Relationship Id="rId4" Type="http://schemas.microsoft.com/office/2007/relationships/media" Target="../media/media-13-5.mp4"/><Relationship Id="rId5" Type="http://schemas.openxmlformats.org/officeDocument/2006/relationships/image" Target="../media/image-42-5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" Target="slide41.xml"/><Relationship Id="rId7" Type="http://schemas.openxmlformats.org/officeDocument/2006/relationships/slide" Target="slide41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image" Target="../media/image-43-3.jpg"/><Relationship Id="rId4" Type="http://schemas.openxmlformats.org/officeDocument/2006/relationships/image" Target="../media/image-43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8" Type="http://schemas.openxmlformats.org/officeDocument/2006/relationships/slide" Target="slide15.xml"/><Relationship Id="rId10" Type="http://schemas.openxmlformats.org/officeDocument/2006/relationships/slide" Target="slide17.xml"/><Relationship Id="rId12" Type="http://schemas.openxmlformats.org/officeDocument/2006/relationships/slide" Target="slide47.xml"/><Relationship Id="rId14" Type="http://schemas.openxmlformats.org/officeDocument/2006/relationships/slide" Target="slide54.xml"/><Relationship Id="rId16" Type="http://schemas.openxmlformats.org/officeDocument/2006/relationships/slide" Target="slide57.xml"/><Relationship Id="rId18" Type="http://schemas.openxmlformats.org/officeDocument/2006/relationships/slide" Target="slide60.xml"/><Relationship Id="rId1" Type="http://schemas.openxmlformats.org/officeDocument/2006/relationships/image" Target="../media/image-44-1.jpg"/><Relationship Id="rId2" Type="http://schemas.openxmlformats.org/officeDocument/2006/relationships/image" Target="../media/image-44-2.jp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9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image" Target="../media/image-3-4.png"/><Relationship Id="rId17" Type="http://schemas.openxmlformats.org/officeDocument/2006/relationships/image" Target="../media/image-3-4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" Target="slide17.xml"/><Relationship Id="rId8" Type="http://schemas.openxmlformats.org/officeDocument/2006/relationships/slide" Target="slide17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video" Target="../media/media-13-2.mp4"/><Relationship Id="rId2" Type="http://schemas.microsoft.com/office/2007/relationships/media" Target="../media/media-13-2.mp4"/><Relationship Id="rId3" Type="http://schemas.openxmlformats.org/officeDocument/2006/relationships/image" Target="../media/image-45-3.png"/><Relationship Id="rId4" Type="http://schemas.openxmlformats.org/officeDocument/2006/relationships/image" Target="../media/image-21-2.png"/><Relationship Id="rId5" Type="http://schemas.openxmlformats.org/officeDocument/2006/relationships/image" Target="../media/image-21-3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" Target="slide17.xml"/><Relationship Id="rId8" Type="http://schemas.openxmlformats.org/officeDocument/2006/relationships/slide" Target="slide17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image" Target="../media/image-46-3.jpg"/><Relationship Id="rId4" Type="http://schemas.openxmlformats.org/officeDocument/2006/relationships/image" Target="../media/image-46-4.jpg"/><Relationship Id="rId5" Type="http://schemas.openxmlformats.org/officeDocument/2006/relationships/image" Target="../media/image-46-5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" Target="slide48.xml"/><Relationship Id="rId5" Type="http://schemas.openxmlformats.org/officeDocument/2006/relationships/slide" Target="slide48.xml"/><Relationship Id="rId7" Type="http://schemas.openxmlformats.org/officeDocument/2006/relationships/slide" Target="slide50.xml"/><Relationship Id="rId8" Type="http://schemas.openxmlformats.org/officeDocument/2006/relationships/slide" Target="slide50.xml"/><Relationship Id="rId10" Type="http://schemas.openxmlformats.org/officeDocument/2006/relationships/slide" Target="slide52.xml"/><Relationship Id="rId11" Type="http://schemas.openxmlformats.org/officeDocument/2006/relationships/slide" Target="slide52.xml"/><Relationship Id="rId12" Type="http://schemas.openxmlformats.org/officeDocument/2006/relationships/slide" Target="slide14.xml"/><Relationship Id="rId14" Type="http://schemas.openxmlformats.org/officeDocument/2006/relationships/slide" Target="slide14.xml"/><Relationship Id="rId15" Type="http://schemas.openxmlformats.org/officeDocument/2006/relationships/slide" Target="slide15.xml"/><Relationship Id="rId17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7.png"/><Relationship Id="rId3" Type="http://schemas.openxmlformats.org/officeDocument/2006/relationships/image" Target="../media/image-47-3.jpg"/><Relationship Id="rId6" Type="http://schemas.openxmlformats.org/officeDocument/2006/relationships/image" Target="../media/image-47-4.jpg"/><Relationship Id="rId9" Type="http://schemas.openxmlformats.org/officeDocument/2006/relationships/image" Target="../media/image-47-5.jpg"/><Relationship Id="rId13" Type="http://schemas.openxmlformats.org/officeDocument/2006/relationships/image" Target="../media/image-3-4.png"/><Relationship Id="rId16" Type="http://schemas.openxmlformats.org/officeDocument/2006/relationships/image" Target="../media/image-3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" Target="slide47.xml"/><Relationship Id="rId7" Type="http://schemas.openxmlformats.org/officeDocument/2006/relationships/slide" Target="slide4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48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" Target="slide47.xml"/><Relationship Id="rId7" Type="http://schemas.openxmlformats.org/officeDocument/2006/relationships/slide" Target="slide4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49-1.jpg"/><Relationship Id="rId2" Type="http://schemas.openxmlformats.org/officeDocument/2006/relationships/image" Target="../media/image-49-2.jpg"/><Relationship Id="rId3" Type="http://schemas.openxmlformats.org/officeDocument/2006/relationships/image" Target="../media/image-49-3.jpg"/><Relationship Id="rId4" Type="http://schemas.openxmlformats.org/officeDocument/2006/relationships/image" Target="../media/image-49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" Target="slide47.xml"/><Relationship Id="rId6" Type="http://schemas.openxmlformats.org/officeDocument/2006/relationships/slide" Target="slide47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0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" Target="slide47.xml"/><Relationship Id="rId7" Type="http://schemas.openxmlformats.org/officeDocument/2006/relationships/slide" Target="slide4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51-1.jpg"/><Relationship Id="rId2" Type="http://schemas.openxmlformats.org/officeDocument/2006/relationships/image" Target="../media/image-51-2.jpg"/><Relationship Id="rId3" Type="http://schemas.openxmlformats.org/officeDocument/2006/relationships/image" Target="../media/image-51-3.jpg"/><Relationship Id="rId4" Type="http://schemas.openxmlformats.org/officeDocument/2006/relationships/image" Target="../media/image-51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" Target="slide47.xml"/><Relationship Id="rId7" Type="http://schemas.openxmlformats.org/officeDocument/2006/relationships/slide" Target="slide4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52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" Target="slide47.xml"/><Relationship Id="rId7" Type="http://schemas.openxmlformats.org/officeDocument/2006/relationships/slide" Target="slide4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image" Target="../media/image-53-3.jpg"/><Relationship Id="rId4" Type="http://schemas.openxmlformats.org/officeDocument/2006/relationships/image" Target="../media/image-53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" Target="slide55.xml"/><Relationship Id="rId5" Type="http://schemas.openxmlformats.org/officeDocument/2006/relationships/slide" Target="slide55.xml"/><Relationship Id="rId6" Type="http://schemas.openxmlformats.org/officeDocument/2006/relationships/slide" Target="slide55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8.png"/><Relationship Id="rId3" Type="http://schemas.openxmlformats.org/officeDocument/2006/relationships/image" Target="../media/image-54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" Target="slide54.xml"/><Relationship Id="rId6" Type="http://schemas.openxmlformats.org/officeDocument/2006/relationships/slide" Target="slide54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5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slide" Target="slide54.xml"/><Relationship Id="rId8" Type="http://schemas.openxmlformats.org/officeDocument/2006/relationships/slide" Target="slide54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image" Target="../media/image-56-3.jpg"/><Relationship Id="rId4" Type="http://schemas.openxmlformats.org/officeDocument/2006/relationships/image" Target="../media/image-56-4.jpg"/><Relationship Id="rId5" Type="http://schemas.openxmlformats.org/officeDocument/2006/relationships/image" Target="../media/image-56-5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" Target="slide58.xml"/><Relationship Id="rId5" Type="http://schemas.openxmlformats.org/officeDocument/2006/relationships/slide" Target="slide58.xml"/><Relationship Id="rId6" Type="http://schemas.openxmlformats.org/officeDocument/2006/relationships/slide" Target="slide58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9.png"/><Relationship Id="rId3" Type="http://schemas.openxmlformats.org/officeDocument/2006/relationships/image" Target="../media/image-57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" Target="slide57.xml"/><Relationship Id="rId7" Type="http://schemas.openxmlformats.org/officeDocument/2006/relationships/slide" Target="slide5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58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" Target="slide57.xml"/><Relationship Id="rId7" Type="http://schemas.openxmlformats.org/officeDocument/2006/relationships/slide" Target="slide5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59-1.jpg"/><Relationship Id="rId2" Type="http://schemas.openxmlformats.org/officeDocument/2006/relationships/image" Target="../media/image-59-2.jpg"/><Relationship Id="rId3" Type="http://schemas.openxmlformats.org/officeDocument/2006/relationships/image" Target="../media/image-59-3.jpg"/><Relationship Id="rId4" Type="http://schemas.openxmlformats.org/officeDocument/2006/relationships/image" Target="../media/image-59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" Target="slide61.xml"/><Relationship Id="rId5" Type="http://schemas.openxmlformats.org/officeDocument/2006/relationships/slide" Target="slide61.xml"/><Relationship Id="rId6" Type="http://schemas.openxmlformats.org/officeDocument/2006/relationships/slide" Target="slide61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12-10.png"/><Relationship Id="rId3" Type="http://schemas.openxmlformats.org/officeDocument/2006/relationships/image" Target="../media/image-60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" Target="slide60.xml"/><Relationship Id="rId6" Type="http://schemas.openxmlformats.org/officeDocument/2006/relationships/slide" Target="slide60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6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5" Type="http://schemas.openxmlformats.org/officeDocument/2006/relationships/slide" Target="slide60.xml"/><Relationship Id="rId6" Type="http://schemas.openxmlformats.org/officeDocument/2006/relationships/slide" Target="slide14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1" Type="http://schemas.openxmlformats.org/officeDocument/2006/relationships/slide" Target="slide15.xml"/><Relationship Id="rId1" Type="http://schemas.openxmlformats.org/officeDocument/2006/relationships/image" Target="../media/image-62-1.jpg"/><Relationship Id="rId2" Type="http://schemas.openxmlformats.org/officeDocument/2006/relationships/image" Target="../media/image-62-2.jp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8" Type="http://schemas.openxmlformats.org/officeDocument/2006/relationships/slide" Target="slide15.xml"/><Relationship Id="rId10" Type="http://schemas.openxmlformats.org/officeDocument/2006/relationships/slide" Target="slide64.xml"/><Relationship Id="rId12" Type="http://schemas.openxmlformats.org/officeDocument/2006/relationships/slide" Target="slide69.xml"/><Relationship Id="rId14" Type="http://schemas.openxmlformats.org/officeDocument/2006/relationships/slide" Target="slide72.xml"/><Relationship Id="rId16" Type="http://schemas.openxmlformats.org/officeDocument/2006/relationships/slide" Target="slide75.xml"/><Relationship Id="rId18" Type="http://schemas.openxmlformats.org/officeDocument/2006/relationships/slide" Target="slide78.xml"/><Relationship Id="rId1" Type="http://schemas.openxmlformats.org/officeDocument/2006/relationships/image" Target="../media/image-63-1.jpg"/><Relationship Id="rId2" Type="http://schemas.openxmlformats.org/officeDocument/2006/relationships/image" Target="../media/image-63-2.jp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9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image" Target="../media/image-3-4.png"/><Relationship Id="rId17" Type="http://schemas.openxmlformats.org/officeDocument/2006/relationships/image" Target="../media/image-3-4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65.xml"/><Relationship Id="rId4" Type="http://schemas.openxmlformats.org/officeDocument/2006/relationships/slide" Target="slide65.xml"/><Relationship Id="rId6" Type="http://schemas.openxmlformats.org/officeDocument/2006/relationships/slide" Target="slide67.xml"/><Relationship Id="rId7" Type="http://schemas.openxmlformats.org/officeDocument/2006/relationships/slide" Target="slide67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64-2.jpg"/><Relationship Id="rId5" Type="http://schemas.openxmlformats.org/officeDocument/2006/relationships/image" Target="../media/image-64-3.jp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slide" Target="slide64.xml"/><Relationship Id="rId8" Type="http://schemas.openxmlformats.org/officeDocument/2006/relationships/slide" Target="slide64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65-1.jpg"/><Relationship Id="rId2" Type="http://schemas.openxmlformats.org/officeDocument/2006/relationships/image" Target="../media/image-18-2.png"/><Relationship Id="rId3" Type="http://schemas.openxmlformats.org/officeDocument/2006/relationships/video" Target="../media/media-65-3.mp4"/><Relationship Id="rId4" Type="http://schemas.microsoft.com/office/2007/relationships/media" Target="../media/media-65-3.mp4"/><Relationship Id="rId5" Type="http://schemas.openxmlformats.org/officeDocument/2006/relationships/image" Target="../media/image-65-5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" Target="slide64.xml"/><Relationship Id="rId6" Type="http://schemas.openxmlformats.org/officeDocument/2006/relationships/slide" Target="slide64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66-1.jpg"/><Relationship Id="rId2" Type="http://schemas.openxmlformats.org/officeDocument/2006/relationships/image" Target="../media/image-66-2.jpg"/><Relationship Id="rId3" Type="http://schemas.openxmlformats.org/officeDocument/2006/relationships/image" Target="../media/image-66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" Target="slide64.xml"/><Relationship Id="rId7" Type="http://schemas.openxmlformats.org/officeDocument/2006/relationships/slide" Target="slide64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67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slide" Target="slide64.xml"/><Relationship Id="rId8" Type="http://schemas.openxmlformats.org/officeDocument/2006/relationships/slide" Target="slide64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68-1.jpg"/><Relationship Id="rId2" Type="http://schemas.openxmlformats.org/officeDocument/2006/relationships/image" Target="../media/image-68-2.jpg"/><Relationship Id="rId3" Type="http://schemas.openxmlformats.org/officeDocument/2006/relationships/image" Target="../media/image-68-3.jpg"/><Relationship Id="rId4" Type="http://schemas.openxmlformats.org/officeDocument/2006/relationships/image" Target="../media/image-68-4.jpg"/><Relationship Id="rId5" Type="http://schemas.openxmlformats.org/officeDocument/2006/relationships/image" Target="../media/image-68-5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" Target="slide70.xml"/><Relationship Id="rId5" Type="http://schemas.openxmlformats.org/officeDocument/2006/relationships/slide" Target="slide70.xml"/><Relationship Id="rId6" Type="http://schemas.openxmlformats.org/officeDocument/2006/relationships/slide" Target="slide70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69-2.png"/><Relationship Id="rId3" Type="http://schemas.openxmlformats.org/officeDocument/2006/relationships/image" Target="../media/image-69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" Target="slide69.xml"/><Relationship Id="rId6" Type="http://schemas.openxmlformats.org/officeDocument/2006/relationships/slide" Target="slide69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70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slide" Target="slide69.xml"/><Relationship Id="rId8" Type="http://schemas.openxmlformats.org/officeDocument/2006/relationships/slide" Target="slide69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71-1.jpg"/><Relationship Id="rId2" Type="http://schemas.openxmlformats.org/officeDocument/2006/relationships/image" Target="../media/image-71-2.jpg"/><Relationship Id="rId3" Type="http://schemas.openxmlformats.org/officeDocument/2006/relationships/image" Target="../media/image-71-3.jpg"/><Relationship Id="rId4" Type="http://schemas.openxmlformats.org/officeDocument/2006/relationships/image" Target="../media/image-71-4.jpg"/><Relationship Id="rId5" Type="http://schemas.openxmlformats.org/officeDocument/2006/relationships/image" Target="../media/image-71-5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4" Type="http://schemas.openxmlformats.org/officeDocument/2006/relationships/slide" Target="slide73.xml"/><Relationship Id="rId5" Type="http://schemas.openxmlformats.org/officeDocument/2006/relationships/slide" Target="slide73.xml"/><Relationship Id="rId6" Type="http://schemas.openxmlformats.org/officeDocument/2006/relationships/slide" Target="slide14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1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72-2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slide" Target="slide72.xml"/><Relationship Id="rId8" Type="http://schemas.openxmlformats.org/officeDocument/2006/relationships/slide" Target="slide72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73-1.jpg"/><Relationship Id="rId2" Type="http://schemas.openxmlformats.org/officeDocument/2006/relationships/image" Target="../media/image-18-2.png"/><Relationship Id="rId3" Type="http://schemas.openxmlformats.org/officeDocument/2006/relationships/video" Target="../media/media-13-9.mp4"/><Relationship Id="rId4" Type="http://schemas.microsoft.com/office/2007/relationships/media" Target="../media/media-13-9.mp4"/><Relationship Id="rId5" Type="http://schemas.openxmlformats.org/officeDocument/2006/relationships/image" Target="../media/image-73-5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" Target="slide72.xml"/><Relationship Id="rId7" Type="http://schemas.openxmlformats.org/officeDocument/2006/relationships/slide" Target="slide72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74-1.jpg"/><Relationship Id="rId2" Type="http://schemas.openxmlformats.org/officeDocument/2006/relationships/image" Target="../media/image-74-2.jpg"/><Relationship Id="rId3" Type="http://schemas.openxmlformats.org/officeDocument/2006/relationships/image" Target="../media/image-74-3.jpg"/><Relationship Id="rId4" Type="http://schemas.openxmlformats.org/officeDocument/2006/relationships/image" Target="../media/image-74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" Target="slide76.xml"/><Relationship Id="rId5" Type="http://schemas.openxmlformats.org/officeDocument/2006/relationships/slide" Target="slide76.xml"/><Relationship Id="rId6" Type="http://schemas.openxmlformats.org/officeDocument/2006/relationships/slide" Target="slide76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75-2.png"/><Relationship Id="rId3" Type="http://schemas.openxmlformats.org/officeDocument/2006/relationships/image" Target="../media/image-75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" Target="slide75.xml"/><Relationship Id="rId7" Type="http://schemas.openxmlformats.org/officeDocument/2006/relationships/slide" Target="slide75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76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" Target="slide75.xml"/><Relationship Id="rId6" Type="http://schemas.openxmlformats.org/officeDocument/2006/relationships/slide" Target="slide75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77-1.jpg"/><Relationship Id="rId2" Type="http://schemas.openxmlformats.org/officeDocument/2006/relationships/image" Target="../media/image-77-2.jpg"/><Relationship Id="rId3" Type="http://schemas.openxmlformats.org/officeDocument/2006/relationships/image" Target="../media/image-77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slide" Target="slide79.xml"/><Relationship Id="rId5" Type="http://schemas.openxmlformats.org/officeDocument/2006/relationships/slide" Target="slide79.xml"/><Relationship Id="rId6" Type="http://schemas.openxmlformats.org/officeDocument/2006/relationships/slide" Target="slide79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78-2.png"/><Relationship Id="rId3" Type="http://schemas.openxmlformats.org/officeDocument/2006/relationships/image" Target="../media/image-78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" Target="slide78.xml"/><Relationship Id="rId6" Type="http://schemas.openxmlformats.org/officeDocument/2006/relationships/slide" Target="slide78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79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slide" Target="slide78.xml"/><Relationship Id="rId7" Type="http://schemas.openxmlformats.org/officeDocument/2006/relationships/slide" Target="slide78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80-1.jpg"/><Relationship Id="rId2" Type="http://schemas.openxmlformats.org/officeDocument/2006/relationships/image" Target="../media/image-80-2.jpg"/><Relationship Id="rId3" Type="http://schemas.openxmlformats.org/officeDocument/2006/relationships/image" Target="../media/image-80-3.jpg"/><Relationship Id="rId4" Type="http://schemas.openxmlformats.org/officeDocument/2006/relationships/image" Target="../media/image-80-4.jp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8" Type="http://schemas.openxmlformats.org/officeDocument/2006/relationships/slide" Target="slide15.xml"/><Relationship Id="rId10" Type="http://schemas.openxmlformats.org/officeDocument/2006/relationships/slide" Target="slide82.xml"/><Relationship Id="rId12" Type="http://schemas.openxmlformats.org/officeDocument/2006/relationships/slide" Target="slide85.xml"/><Relationship Id="rId14" Type="http://schemas.openxmlformats.org/officeDocument/2006/relationships/slide" Target="slide88.xml"/><Relationship Id="rId1" Type="http://schemas.openxmlformats.org/officeDocument/2006/relationships/image" Target="../media/image-81-1.jpg"/><Relationship Id="rId2" Type="http://schemas.openxmlformats.org/officeDocument/2006/relationships/image" Target="../media/image-81-2.jp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9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slide" Target="slide83.xml"/><Relationship Id="rId5" Type="http://schemas.openxmlformats.org/officeDocument/2006/relationships/slide" Target="slide83.xml"/><Relationship Id="rId6" Type="http://schemas.openxmlformats.org/officeDocument/2006/relationships/slide" Target="slide83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82-2.png"/><Relationship Id="rId3" Type="http://schemas.openxmlformats.org/officeDocument/2006/relationships/image" Target="../media/image-82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5" Type="http://schemas.openxmlformats.org/officeDocument/2006/relationships/slide" Target="slide82.xml"/><Relationship Id="rId7" Type="http://schemas.openxmlformats.org/officeDocument/2006/relationships/slide" Target="slide82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83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slide" Target="slide82.xml"/><Relationship Id="rId8" Type="http://schemas.openxmlformats.org/officeDocument/2006/relationships/slide" Target="slide82.xml"/><Relationship Id="rId9" Type="http://schemas.openxmlformats.org/officeDocument/2006/relationships/slide" Target="slide14.xml"/><Relationship Id="rId11" Type="http://schemas.openxmlformats.org/officeDocument/2006/relationships/slide" Target="slide14.xml"/><Relationship Id="rId12" Type="http://schemas.openxmlformats.org/officeDocument/2006/relationships/slide" Target="slide15.xml"/><Relationship Id="rId14" Type="http://schemas.openxmlformats.org/officeDocument/2006/relationships/slide" Target="slide15.xml"/><Relationship Id="rId1" Type="http://schemas.openxmlformats.org/officeDocument/2006/relationships/image" Target="../media/image-84-1.jpg"/><Relationship Id="rId2" Type="http://schemas.openxmlformats.org/officeDocument/2006/relationships/image" Target="../media/image-84-2.jpg"/><Relationship Id="rId3" Type="http://schemas.openxmlformats.org/officeDocument/2006/relationships/image" Target="../media/image-84-3.jpg"/><Relationship Id="rId4" Type="http://schemas.openxmlformats.org/officeDocument/2006/relationships/image" Target="../media/image-84-4.jpg"/><Relationship Id="rId5" Type="http://schemas.openxmlformats.org/officeDocument/2006/relationships/image" Target="../media/image-84-5.jp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3" Type="http://schemas.openxmlformats.org/officeDocument/2006/relationships/image" Target="../media/image-3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slide" Target="slide86.xml"/><Relationship Id="rId5" Type="http://schemas.openxmlformats.org/officeDocument/2006/relationships/slide" Target="slide86.xml"/><Relationship Id="rId6" Type="http://schemas.openxmlformats.org/officeDocument/2006/relationships/slide" Target="slide86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85-2.png"/><Relationship Id="rId3" Type="http://schemas.openxmlformats.org/officeDocument/2006/relationships/image" Target="../media/image-85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slide" Target="slide85.xml"/><Relationship Id="rId6" Type="http://schemas.openxmlformats.org/officeDocument/2006/relationships/slide" Target="slide85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86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slide" Target="slide85.xml"/><Relationship Id="rId6" Type="http://schemas.openxmlformats.org/officeDocument/2006/relationships/slide" Target="slide85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87-1.jpg"/><Relationship Id="rId2" Type="http://schemas.openxmlformats.org/officeDocument/2006/relationships/image" Target="../media/image-87-2.jpg"/><Relationship Id="rId3" Type="http://schemas.openxmlformats.org/officeDocument/2006/relationships/image" Target="../media/image-87-3.jpg"/><Relationship Id="rId5" Type="http://schemas.openxmlformats.org/officeDocument/2006/relationships/image" Target="../media/image-3-4.pn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" Target="slide89.xml"/><Relationship Id="rId5" Type="http://schemas.openxmlformats.org/officeDocument/2006/relationships/slide" Target="slide89.xml"/><Relationship Id="rId6" Type="http://schemas.openxmlformats.org/officeDocument/2006/relationships/slide" Target="slide89.xml"/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88-2.png"/><Relationship Id="rId3" Type="http://schemas.openxmlformats.org/officeDocument/2006/relationships/image" Target="../media/image-88-3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slide" Target="slide88.xml"/><Relationship Id="rId7" Type="http://schemas.openxmlformats.org/officeDocument/2006/relationships/slide" Target="slide88.xml"/><Relationship Id="rId8" Type="http://schemas.openxmlformats.org/officeDocument/2006/relationships/slide" Target="slide14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3" Type="http://schemas.openxmlformats.org/officeDocument/2006/relationships/slide" Target="slide15.xml"/><Relationship Id="rId1" Type="http://schemas.openxmlformats.org/officeDocument/2006/relationships/image" Target="../media/image-3-1.jpg"/><Relationship Id="rId2" Type="http://schemas.openxmlformats.org/officeDocument/2006/relationships/image" Target="../media/image-89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6" Type="http://schemas.openxmlformats.org/officeDocument/2006/relationships/image" Target="../media/image-3-4.png"/><Relationship Id="rId9" Type="http://schemas.openxmlformats.org/officeDocument/2006/relationships/image" Target="../media/image-3-4.png"/><Relationship Id="rId12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5" Type="http://schemas.openxmlformats.org/officeDocument/2006/relationships/slide" Target="slide88.xml"/><Relationship Id="rId6" Type="http://schemas.openxmlformats.org/officeDocument/2006/relationships/slide" Target="slide14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1" Type="http://schemas.openxmlformats.org/officeDocument/2006/relationships/slide" Target="slide15.xml"/><Relationship Id="rId1" Type="http://schemas.openxmlformats.org/officeDocument/2006/relationships/image" Target="../media/image-90-1.jpg"/><Relationship Id="rId2" Type="http://schemas.openxmlformats.org/officeDocument/2006/relationships/image" Target="../media/image-90-2.jp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10" Type="http://schemas.openxmlformats.org/officeDocument/2006/relationships/image" Target="../media/image-3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7" Type="http://schemas.openxmlformats.org/officeDocument/2006/relationships/slide" Target="slide14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2" Type="http://schemas.openxmlformats.org/officeDocument/2006/relationships/slide" Target="slide15.xml"/><Relationship Id="rId1" Type="http://schemas.openxmlformats.org/officeDocument/2006/relationships/image" Target="../media/image-91-1.jpg"/><Relationship Id="rId2" Type="http://schemas.openxmlformats.org/officeDocument/2006/relationships/image" Target="../media/image-91-2.jpg"/><Relationship Id="rId3" Type="http://schemas.openxmlformats.org/officeDocument/2006/relationships/image" Target="../media/image-91-3.jpg"/><Relationship Id="rId4" Type="http://schemas.openxmlformats.org/officeDocument/2006/relationships/image" Target="../media/image-91-4.jpg"/><Relationship Id="rId5" Type="http://schemas.openxmlformats.org/officeDocument/2006/relationships/image" Target="../media/image-91-5.jpg"/><Relationship Id="rId6" Type="http://schemas.openxmlformats.org/officeDocument/2006/relationships/image" Target="../media/image-91-6.jpg"/><Relationship Id="rId8" Type="http://schemas.openxmlformats.org/officeDocument/2006/relationships/image" Target="../media/image-3-4.png"/><Relationship Id="rId11" Type="http://schemas.openxmlformats.org/officeDocument/2006/relationships/image" Target="../media/image-3-4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36" Type="http://schemas.openxmlformats.org/officeDocument/2006/relationships/slide" Target="slide14.xml"/><Relationship Id="rId38" Type="http://schemas.openxmlformats.org/officeDocument/2006/relationships/slide" Target="slide14.xml"/><Relationship Id="rId39" Type="http://schemas.openxmlformats.org/officeDocument/2006/relationships/slide" Target="slide15.xml"/><Relationship Id="rId41" Type="http://schemas.openxmlformats.org/officeDocument/2006/relationships/slide" Target="slide15.xml"/><Relationship Id="rId43" Type="http://schemas.openxmlformats.org/officeDocument/2006/relationships/slide" Target="slide17.xml"/><Relationship Id="rId45" Type="http://schemas.openxmlformats.org/officeDocument/2006/relationships/slide" Target="slide47.xml"/><Relationship Id="rId47" Type="http://schemas.openxmlformats.org/officeDocument/2006/relationships/slide" Target="slide20.xml"/><Relationship Id="rId49" Type="http://schemas.openxmlformats.org/officeDocument/2006/relationships/slide" Target="slide32.xml"/><Relationship Id="rId51" Type="http://schemas.openxmlformats.org/officeDocument/2006/relationships/slide" Target="slide26.xml"/><Relationship Id="rId53" Type="http://schemas.openxmlformats.org/officeDocument/2006/relationships/slide" Target="slide23.xml"/><Relationship Id="rId55" Type="http://schemas.openxmlformats.org/officeDocument/2006/relationships/slide" Target="slide82.xml"/><Relationship Id="rId57" Type="http://schemas.openxmlformats.org/officeDocument/2006/relationships/slide" Target="slide69.xml"/><Relationship Id="rId59" Type="http://schemas.openxmlformats.org/officeDocument/2006/relationships/slide" Target="slide60.xml"/><Relationship Id="rId61" Type="http://schemas.openxmlformats.org/officeDocument/2006/relationships/slide" Target="slide54.xml"/><Relationship Id="rId63" Type="http://schemas.openxmlformats.org/officeDocument/2006/relationships/slide" Target="slide57.xml"/><Relationship Id="rId65" Type="http://schemas.openxmlformats.org/officeDocument/2006/relationships/slide" Target="slide75.xml"/><Relationship Id="rId67" Type="http://schemas.openxmlformats.org/officeDocument/2006/relationships/slide" Target="slide85.xml"/><Relationship Id="rId69" Type="http://schemas.openxmlformats.org/officeDocument/2006/relationships/slide" Target="slide78.xml"/><Relationship Id="rId71" Type="http://schemas.openxmlformats.org/officeDocument/2006/relationships/slide" Target="slide88.xml"/><Relationship Id="rId1" Type="http://schemas.openxmlformats.org/officeDocument/2006/relationships/image" Target="../media/image-15-34.png"/><Relationship Id="rId2" Type="http://schemas.openxmlformats.org/officeDocument/2006/relationships/image" Target="../media/image-15-32.png"/><Relationship Id="rId3" Type="http://schemas.openxmlformats.org/officeDocument/2006/relationships/image" Target="../media/image-15-12.png"/><Relationship Id="rId4" Type="http://schemas.openxmlformats.org/officeDocument/2006/relationships/image" Target="../media/image-15-6.png"/><Relationship Id="rId5" Type="http://schemas.openxmlformats.org/officeDocument/2006/relationships/image" Target="../media/image-15-2.png"/><Relationship Id="rId6" Type="http://schemas.openxmlformats.org/officeDocument/2006/relationships/image" Target="../media/image-15-10.png"/><Relationship Id="rId7" Type="http://schemas.openxmlformats.org/officeDocument/2006/relationships/image" Target="../media/image-15-4.png"/><Relationship Id="rId8" Type="http://schemas.openxmlformats.org/officeDocument/2006/relationships/image" Target="../media/image-15-24.png"/><Relationship Id="rId9" Type="http://schemas.openxmlformats.org/officeDocument/2006/relationships/image" Target="../media/image-15-26.png"/><Relationship Id="rId10" Type="http://schemas.openxmlformats.org/officeDocument/2006/relationships/image" Target="../media/image-15-8.png"/><Relationship Id="rId11" Type="http://schemas.openxmlformats.org/officeDocument/2006/relationships/image" Target="../media/image-15-15.png"/><Relationship Id="rId12" Type="http://schemas.openxmlformats.org/officeDocument/2006/relationships/image" Target="../media/image-92-12.png"/><Relationship Id="rId13" Type="http://schemas.openxmlformats.org/officeDocument/2006/relationships/image" Target="../media/image-92-13.png"/><Relationship Id="rId14" Type="http://schemas.openxmlformats.org/officeDocument/2006/relationships/image" Target="../media/image-92-14.png"/><Relationship Id="rId15" Type="http://schemas.openxmlformats.org/officeDocument/2006/relationships/image" Target="../media/image-92-15.png"/><Relationship Id="rId16" Type="http://schemas.openxmlformats.org/officeDocument/2006/relationships/image" Target="../media/image-92-16.png"/><Relationship Id="rId17" Type="http://schemas.openxmlformats.org/officeDocument/2006/relationships/image" Target="../media/image-92-17.png"/><Relationship Id="rId18" Type="http://schemas.openxmlformats.org/officeDocument/2006/relationships/image" Target="../media/image-92-18.png"/><Relationship Id="rId19" Type="http://schemas.openxmlformats.org/officeDocument/2006/relationships/image" Target="../media/image-92-19.png"/><Relationship Id="rId20" Type="http://schemas.openxmlformats.org/officeDocument/2006/relationships/image" Target="../media/image-92-20.png"/><Relationship Id="rId21" Type="http://schemas.openxmlformats.org/officeDocument/2006/relationships/image" Target="../media/image-92-21.png"/><Relationship Id="rId22" Type="http://schemas.openxmlformats.org/officeDocument/2006/relationships/image" Target="../media/image-15-17.png"/><Relationship Id="rId23" Type="http://schemas.openxmlformats.org/officeDocument/2006/relationships/image" Target="../media/image-15-29.png"/><Relationship Id="rId24" Type="http://schemas.openxmlformats.org/officeDocument/2006/relationships/image" Target="../media/image-92-24.png"/><Relationship Id="rId25" Type="http://schemas.openxmlformats.org/officeDocument/2006/relationships/image" Target="../media/image-92-25.png"/><Relationship Id="rId26" Type="http://schemas.openxmlformats.org/officeDocument/2006/relationships/image" Target="../media/image-92-26.png"/><Relationship Id="rId27" Type="http://schemas.openxmlformats.org/officeDocument/2006/relationships/image" Target="../media/image-92-27.png"/><Relationship Id="rId28" Type="http://schemas.openxmlformats.org/officeDocument/2006/relationships/image" Target="../media/image-92-28.png"/><Relationship Id="rId29" Type="http://schemas.openxmlformats.org/officeDocument/2006/relationships/image" Target="../media/image-15-21.png"/><Relationship Id="rId30" Type="http://schemas.openxmlformats.org/officeDocument/2006/relationships/image" Target="../media/image-15-19.png"/><Relationship Id="rId31" Type="http://schemas.openxmlformats.org/officeDocument/2006/relationships/image" Target="../media/image-92-31.png"/><Relationship Id="rId32" Type="http://schemas.openxmlformats.org/officeDocument/2006/relationships/image" Target="../media/image-92-32.png"/><Relationship Id="rId33" Type="http://schemas.openxmlformats.org/officeDocument/2006/relationships/image" Target="../media/image-92-33.png"/><Relationship Id="rId34" Type="http://schemas.openxmlformats.org/officeDocument/2006/relationships/image" Target="../media/image-92-34.png"/><Relationship Id="rId35" Type="http://schemas.openxmlformats.org/officeDocument/2006/relationships/image" Target="../media/image-92-35.png"/><Relationship Id="rId37" Type="http://schemas.openxmlformats.org/officeDocument/2006/relationships/image" Target="../media/image-3-4.png"/><Relationship Id="rId40" Type="http://schemas.openxmlformats.org/officeDocument/2006/relationships/image" Target="../media/image-3-4.png"/><Relationship Id="rId42" Type="http://schemas.openxmlformats.org/officeDocument/2006/relationships/image" Target="../media/image-3-4.png"/><Relationship Id="rId44" Type="http://schemas.openxmlformats.org/officeDocument/2006/relationships/image" Target="../media/image-3-4.png"/><Relationship Id="rId46" Type="http://schemas.openxmlformats.org/officeDocument/2006/relationships/image" Target="../media/image-3-4.png"/><Relationship Id="rId48" Type="http://schemas.openxmlformats.org/officeDocument/2006/relationships/image" Target="../media/image-3-4.png"/><Relationship Id="rId50" Type="http://schemas.openxmlformats.org/officeDocument/2006/relationships/image" Target="../media/image-3-4.png"/><Relationship Id="rId52" Type="http://schemas.openxmlformats.org/officeDocument/2006/relationships/image" Target="../media/image-3-4.png"/><Relationship Id="rId54" Type="http://schemas.openxmlformats.org/officeDocument/2006/relationships/image" Target="../media/image-3-4.png"/><Relationship Id="rId56" Type="http://schemas.openxmlformats.org/officeDocument/2006/relationships/image" Target="../media/image-3-4.png"/><Relationship Id="rId58" Type="http://schemas.openxmlformats.org/officeDocument/2006/relationships/image" Target="../media/image-3-4.png"/><Relationship Id="rId60" Type="http://schemas.openxmlformats.org/officeDocument/2006/relationships/image" Target="../media/image-3-4.png"/><Relationship Id="rId62" Type="http://schemas.openxmlformats.org/officeDocument/2006/relationships/image" Target="../media/image-3-4.png"/><Relationship Id="rId64" Type="http://schemas.openxmlformats.org/officeDocument/2006/relationships/image" Target="../media/image-3-4.png"/><Relationship Id="rId66" Type="http://schemas.openxmlformats.org/officeDocument/2006/relationships/image" Target="../media/image-3-4.png"/><Relationship Id="rId68" Type="http://schemas.openxmlformats.org/officeDocument/2006/relationships/image" Target="../media/image-3-4.png"/><Relationship Id="rId70" Type="http://schemas.openxmlformats.org/officeDocument/2006/relationships/image" Target="../media/image-3-4.png"/><Relationship Id="rId72" Type="http://schemas.openxmlformats.org/officeDocument/2006/relationships/slideLayout" Target="../slideLayouts/slideLayout1.xml"/><Relationship Id="rId7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8" Type="http://schemas.openxmlformats.org/officeDocument/2006/relationships/slide" Target="slide15.xml"/><Relationship Id="rId1" Type="http://schemas.openxmlformats.org/officeDocument/2006/relationships/image" Target="../media/image-93-1.jpg"/><Relationship Id="rId2" Type="http://schemas.openxmlformats.org/officeDocument/2006/relationships/image" Target="../media/image-93-2.pn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6" Type="http://schemas.openxmlformats.org/officeDocument/2006/relationships/slide" Target="slide14.xml"/><Relationship Id="rId18" Type="http://schemas.openxmlformats.org/officeDocument/2006/relationships/slide" Target="slide14.xml"/><Relationship Id="rId19" Type="http://schemas.openxmlformats.org/officeDocument/2006/relationships/slide" Target="slide15.xml"/><Relationship Id="rId21" Type="http://schemas.openxmlformats.org/officeDocument/2006/relationships/slide" Target="slide15.xml"/><Relationship Id="rId1" Type="http://schemas.openxmlformats.org/officeDocument/2006/relationships/image" Target="../media/image-94-1.jpg"/><Relationship Id="rId2" Type="http://schemas.openxmlformats.org/officeDocument/2006/relationships/image" Target="../media/image-94-2.jpg"/><Relationship Id="rId3" Type="http://schemas.openxmlformats.org/officeDocument/2006/relationships/image" Target="../media/image-94-3.jpg"/><Relationship Id="rId4" Type="http://schemas.openxmlformats.org/officeDocument/2006/relationships/image" Target="../media/image-94-4.jpg"/><Relationship Id="rId5" Type="http://schemas.openxmlformats.org/officeDocument/2006/relationships/image" Target="../media/image-94-5.jpg"/><Relationship Id="rId6" Type="http://schemas.openxmlformats.org/officeDocument/2006/relationships/image" Target="../media/image-94-6.jpg"/><Relationship Id="rId7" Type="http://schemas.openxmlformats.org/officeDocument/2006/relationships/image" Target="../media/image-94-7.jpg"/><Relationship Id="rId8" Type="http://schemas.openxmlformats.org/officeDocument/2006/relationships/image" Target="../media/image-94-8.jpg"/><Relationship Id="rId9" Type="http://schemas.openxmlformats.org/officeDocument/2006/relationships/image" Target="../media/image-94-9.jpg"/><Relationship Id="rId10" Type="http://schemas.openxmlformats.org/officeDocument/2006/relationships/image" Target="../media/image-94-10.jpg"/><Relationship Id="rId11" Type="http://schemas.openxmlformats.org/officeDocument/2006/relationships/image" Target="../media/image-94-11.jpg"/><Relationship Id="rId12" Type="http://schemas.openxmlformats.org/officeDocument/2006/relationships/image" Target="../media/image-94-12.jpg"/><Relationship Id="rId13" Type="http://schemas.openxmlformats.org/officeDocument/2006/relationships/image" Target="../media/image-94-13.jpg"/><Relationship Id="rId14" Type="http://schemas.openxmlformats.org/officeDocument/2006/relationships/image" Target="../media/image-94-14.jpg"/><Relationship Id="rId15" Type="http://schemas.openxmlformats.org/officeDocument/2006/relationships/image" Target="../media/image-94-15.jpg"/><Relationship Id="rId17" Type="http://schemas.openxmlformats.org/officeDocument/2006/relationships/image" Target="../media/image-3-4.png"/><Relationship Id="rId20" Type="http://schemas.openxmlformats.org/officeDocument/2006/relationships/image" Target="../media/image-3-4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8" Type="http://schemas.openxmlformats.org/officeDocument/2006/relationships/slide" Target="slide15.xml"/><Relationship Id="rId1" Type="http://schemas.openxmlformats.org/officeDocument/2006/relationships/image" Target="../media/image-5-1.jpg"/><Relationship Id="rId2" Type="http://schemas.openxmlformats.org/officeDocument/2006/relationships/image" Target="../media/image-95-2.png"/><Relationship Id="rId4" Type="http://schemas.openxmlformats.org/officeDocument/2006/relationships/image" Target="../media/image-3-4.png"/><Relationship Id="rId7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g13112da4e6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tap Feel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01" y="406400"/>
            <a:ext cx="1067098" cy="482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407400" y="5588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APRESENTAÇÃO 2026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09600" y="1143000"/>
            <a:ext cx="6350" cy="10541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74700" y="109220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DESIGN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74700" y="130810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74700" y="152400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CENOGRAFIA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774700" y="173990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PRODUÇÃO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74700" y="1955800"/>
            <a:ext cx="2667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EVENTOS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08000" y="2438400"/>
            <a:ext cx="889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3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Sentimentos</a:t>
            </a:r>
            <a:endParaRPr lang="en-US" sz="15000" dirty="0"/>
          </a:p>
        </p:txBody>
      </p:sp>
      <p:sp>
        <p:nvSpPr>
          <p:cNvPr id="12" name="Text 8"/>
          <p:cNvSpPr txBox="1"/>
          <p:nvPr/>
        </p:nvSpPr>
        <p:spPr>
          <a:xfrm>
            <a:off x="2095500" y="3810000"/>
            <a:ext cx="1009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i="1" spc="-300" kern="0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 constroem.</a:t>
            </a:r>
            <a:endParaRPr lang="en-US" sz="15000" dirty="0"/>
          </a:p>
        </p:txBody>
      </p:sp>
      <p:sp>
        <p:nvSpPr>
          <p:cNvPr id="13" name="Text 9"/>
          <p:cNvSpPr txBox="1"/>
          <p:nvPr/>
        </p:nvSpPr>
        <p:spPr>
          <a:xfrm>
            <a:off x="9017000" y="1397000"/>
            <a:ext cx="25654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arquitetura e produção integradas, do projeto à montagem.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017000" y="2514600"/>
            <a:ext cx="381000" cy="635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09600" y="61976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DESDE 1992 · SÃO PAULO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0" descr="/tmp/claude-0/-home-claude/8e1ee178-3aa5-5bd7-bb29-abd60da1bf1a/scratchpad/pptx/img/gac80f2f3131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Stap Feeling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842" y="2235200"/>
            <a:ext cx="3876316" cy="17526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0" y="4445000"/>
            <a:ext cx="1219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DESIGN · ARQUITETURA · CENOGRAFIA · PRODUÇÃO · EVENTOS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Retrato de mulher com folha, imagem do manifesto St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77be39d7450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25400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6096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MANIFESTO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84200" y="1079500"/>
            <a:ext cx="5715000" cy="92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0"/>
              </a:lnSpc>
              <a:buNone/>
            </a:pPr>
            <a:r>
              <a:rPr lang="en-US" sz="70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Você não é</a:t>
            </a:r>
            <a:endParaRPr lang="en-US" sz="7000" dirty="0"/>
          </a:p>
        </p:txBody>
      </p:sp>
      <p:sp>
        <p:nvSpPr>
          <p:cNvPr id="7" name="Text 2"/>
          <p:cNvSpPr txBox="1"/>
          <p:nvPr/>
        </p:nvSpPr>
        <p:spPr>
          <a:xfrm>
            <a:off x="584200" y="2006600"/>
            <a:ext cx="6096000" cy="92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0"/>
              </a:lnSpc>
              <a:buNone/>
            </a:pPr>
            <a:r>
              <a:rPr lang="en-US" sz="7000" i="1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você faz.</a:t>
            </a:r>
            <a:endParaRPr lang="en-US" sz="7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3302000"/>
            <a:ext cx="520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Você é o que você faz as pessoas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3683000"/>
            <a:ext cx="8255000" cy="234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0"/>
              </a:lnSpc>
              <a:buNone/>
            </a:pPr>
            <a:r>
              <a:rPr lang="en-US" sz="165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SENTIREM.</a:t>
            </a:r>
            <a:endParaRPr lang="en-US" sz="16500" dirty="0"/>
          </a:p>
        </p:txBody>
      </p:sp>
      <p:sp>
        <p:nvSpPr>
          <p:cNvPr id="10" name="Text 5"/>
          <p:cNvSpPr txBox="1"/>
          <p:nvPr/>
        </p:nvSpPr>
        <p:spPr>
          <a:xfrm>
            <a:off x="609600" y="61595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RICARDO GOMES, FOUNDER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6096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DESDE 1992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4200" y="952500"/>
            <a:ext cx="95250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en-US" sz="65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Escala para </a:t>
            </a:r>
            <a:pPr algn="l" indent="0" marL="0">
              <a:lnSpc>
                <a:spcPts val="6760"/>
              </a:lnSpc>
              <a:buNone/>
            </a:pPr>
            <a:r>
              <a:rPr lang="en-US" sz="6500" i="1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entregar.</a:t>
            </a:r>
            <a:endParaRPr lang="en-US" sz="6500" dirty="0"/>
          </a:p>
        </p:txBody>
      </p:sp>
      <p:sp>
        <p:nvSpPr>
          <p:cNvPr id="5" name="Shape 2"/>
          <p:cNvSpPr/>
          <p:nvPr/>
        </p:nvSpPr>
        <p:spPr>
          <a:xfrm>
            <a:off x="609600" y="2413000"/>
            <a:ext cx="34544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4200" y="2565400"/>
            <a:ext cx="34544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0"/>
              </a:lnSpc>
              <a:buNone/>
            </a:pPr>
            <a:r>
              <a:rPr lang="en-US" sz="1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34</a:t>
            </a:r>
            <a:endParaRPr lang="en-US" sz="100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4000500"/>
            <a:ext cx="330200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anos de história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267200" y="2413000"/>
            <a:ext cx="34544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41800" y="2565400"/>
            <a:ext cx="34544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0"/>
              </a:lnSpc>
              <a:buNone/>
            </a:pPr>
            <a:r>
              <a:rPr lang="en-US" sz="1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+4.000</a:t>
            </a:r>
            <a:endParaRPr lang="en-US" sz="10000" dirty="0"/>
          </a:p>
        </p:txBody>
      </p:sp>
      <p:sp>
        <p:nvSpPr>
          <p:cNvPr id="10" name="Text 7"/>
          <p:cNvSpPr txBox="1"/>
          <p:nvPr/>
        </p:nvSpPr>
        <p:spPr>
          <a:xfrm>
            <a:off x="4267200" y="4000500"/>
            <a:ext cx="330200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projetos realizados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7924800" y="2413000"/>
            <a:ext cx="34544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99400" y="2565400"/>
            <a:ext cx="34544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0"/>
              </a:lnSpc>
              <a:buNone/>
            </a:pPr>
            <a:r>
              <a:rPr lang="en-US" sz="1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+250</a:t>
            </a:r>
            <a:endParaRPr lang="en-US" sz="10000" dirty="0"/>
          </a:p>
        </p:txBody>
      </p:sp>
      <p:sp>
        <p:nvSpPr>
          <p:cNvPr id="13" name="Text 10"/>
          <p:cNvSpPr txBox="1"/>
          <p:nvPr/>
        </p:nvSpPr>
        <p:spPr>
          <a:xfrm>
            <a:off x="7924800" y="4000500"/>
            <a:ext cx="330200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clientes atendidos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09600" y="4508500"/>
            <a:ext cx="34544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4200" y="4660900"/>
            <a:ext cx="34544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0"/>
              </a:lnSpc>
              <a:buNone/>
            </a:pPr>
            <a:r>
              <a:rPr lang="en-US" sz="1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+500</a:t>
            </a:r>
            <a:endParaRPr lang="en-US" sz="10000" dirty="0"/>
          </a:p>
        </p:txBody>
      </p:sp>
      <p:sp>
        <p:nvSpPr>
          <p:cNvPr id="16" name="Text 13"/>
          <p:cNvSpPr txBox="1"/>
          <p:nvPr/>
        </p:nvSpPr>
        <p:spPr>
          <a:xfrm>
            <a:off x="609600" y="6096000"/>
            <a:ext cx="330200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estandes construídos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267200" y="4508500"/>
            <a:ext cx="34544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41800" y="4660900"/>
            <a:ext cx="345440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0"/>
              </a:lnSpc>
              <a:buNone/>
            </a:pPr>
            <a:r>
              <a:rPr lang="en-US" sz="85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+250 MIL</a:t>
            </a:r>
            <a:endParaRPr lang="en-US" sz="8500" dirty="0"/>
          </a:p>
        </p:txBody>
      </p:sp>
      <p:sp>
        <p:nvSpPr>
          <p:cNvPr id="19" name="Text 16"/>
          <p:cNvSpPr txBox="1"/>
          <p:nvPr/>
        </p:nvSpPr>
        <p:spPr>
          <a:xfrm>
            <a:off x="4267200" y="6096000"/>
            <a:ext cx="330200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m² de área construída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7924800" y="4508500"/>
            <a:ext cx="34544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899400" y="4660900"/>
            <a:ext cx="34544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0"/>
              </a:lnSpc>
              <a:buNone/>
            </a:pPr>
            <a:r>
              <a:rPr lang="en-US" sz="1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7</a:t>
            </a:r>
            <a:endParaRPr lang="en-US" sz="10000" dirty="0"/>
          </a:p>
        </p:txBody>
      </p:sp>
      <p:sp>
        <p:nvSpPr>
          <p:cNvPr id="22" name="Text 19"/>
          <p:cNvSpPr txBox="1"/>
          <p:nvPr/>
        </p:nvSpPr>
        <p:spPr>
          <a:xfrm>
            <a:off x="7924800" y="6096000"/>
            <a:ext cx="330200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dirty="0">
                <a:solidFill>
                  <a:srgbClr val="B4C3D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montagens simultâneas no Circuito Agro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5" name="Image 1" descr="Link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7" name="Image 2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9525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MANIFESTO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4200" y="1460500"/>
            <a:ext cx="9525000" cy="418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2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Todo mundo promete emoção.</a:t>
            </a:r>
            <a:endParaRPr lang="en-US" sz="420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2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Pouca gente mostra como ela é feita.</a:t>
            </a:r>
            <a:endParaRPr lang="en-US" sz="420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2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 Stap, ela começa num traço,</a:t>
            </a:r>
            <a:endParaRPr lang="en-US" sz="420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2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vira render,</a:t>
            </a:r>
            <a:endParaRPr lang="en-US" sz="420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2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 chega ao público do jeito que foi aprovada.</a:t>
            </a:r>
            <a:endParaRPr lang="en-US" sz="420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2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Há 34 anos, quem desenha é quem entrega.</a:t>
            </a:r>
            <a:endParaRPr lang="en-US" sz="4200" dirty="0"/>
          </a:p>
          <a:p>
            <a:pPr algn="l" indent="0" marL="0">
              <a:lnSpc>
                <a:spcPts val="4700"/>
              </a:lnSpc>
              <a:buNone/>
            </a:pPr>
            <a:r>
              <a:rPr lang="en-US" sz="4200" i="1" spc="-10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Sentimentos se constroem.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7" name="Image 1" descr="Link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9" name="Image 2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0"/>
            <a:ext cx="381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0"/>
              </a:lnSpc>
              <a:buNone/>
            </a:pPr>
            <a:r>
              <a:rPr lang="en-US" sz="12500" i="1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</a:t>
            </a:r>
            <a:endParaRPr lang="en-US" sz="12500" dirty="0"/>
          </a:p>
        </p:txBody>
      </p:sp>
      <p:sp>
        <p:nvSpPr>
          <p:cNvPr id="4" name="Text 1"/>
          <p:cNvSpPr txBox="1"/>
          <p:nvPr/>
        </p:nvSpPr>
        <p:spPr>
          <a:xfrm>
            <a:off x="603885" y="1524000"/>
            <a:ext cx="815848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0"/>
              </a:lnSpc>
              <a:buNone/>
            </a:pPr>
            <a:r>
              <a:rPr lang="en-US" sz="32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RENDER</a:t>
            </a:r>
            <a:endParaRPr lang="en-US" sz="320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5016500"/>
            <a:ext cx="698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0"/>
              </a:lnSpc>
              <a:buNone/>
            </a:pPr>
            <a:r>
              <a:rPr lang="en-US" sz="12500" i="1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ao real.</a:t>
            </a:r>
            <a:endParaRPr lang="en-US" sz="12500" dirty="0"/>
          </a:p>
        </p:txBody>
      </p:sp>
      <p:sp>
        <p:nvSpPr>
          <p:cNvPr id="6" name="Text 3"/>
          <p:cNvSpPr txBox="1"/>
          <p:nvPr/>
        </p:nvSpPr>
        <p:spPr>
          <a:xfrm>
            <a:off x="8255000" y="5397500"/>
            <a:ext cx="3327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que a gente desenha é o que você encontra no dia. Do traço ao estande montado, com o mesmo time.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9" name="Image 1" descr="Link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1" name="Image 2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4200" y="635000"/>
            <a:ext cx="444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dirty="0">
                <a:solidFill>
                  <a:srgbClr val="EEE9E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DO RENDER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3683000" y="673100"/>
            <a:ext cx="444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i="1" spc="-20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ao real.</a:t>
            </a:r>
            <a:endParaRPr lang="en-US" sz="7500" dirty="0"/>
          </a:p>
        </p:txBody>
      </p:sp>
      <p:sp>
        <p:nvSpPr>
          <p:cNvPr id="5" name="Text 2"/>
          <p:cNvSpPr txBox="1"/>
          <p:nvPr/>
        </p:nvSpPr>
        <p:spPr>
          <a:xfrm>
            <a:off x="6731000" y="14986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GRUNNER · AGRISHOW 2024</a:t>
            </a:r>
            <a:endParaRPr lang="en-US" sz="1200" dirty="0"/>
          </a:p>
        </p:txBody>
      </p:sp>
      <p:pic>
        <p:nvPicPr>
          <p:cNvPr id="6" name="Image 1" descr="Render 3D do estande Grunner na Agrish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2032000"/>
            <a:ext cx="10160000" cy="4451350"/>
          </a:xfrm>
          <a:prstGeom prst="rect">
            <a:avLst/>
          </a:prstGeom>
        </p:spPr>
      </p:pic>
      <p:pic>
        <p:nvPicPr>
          <p:cNvPr id="7" name="Image 2" descr="Estande Grunner montado na Agrish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32000"/>
            <a:ext cx="5080000" cy="44513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89650" y="2032000"/>
            <a:ext cx="12700" cy="445135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1168400" y="2184400"/>
            <a:ext cx="6350" cy="213360"/>
          </a:xfrm>
          <a:prstGeom prst="rect">
            <a:avLst/>
          </a:prstGeom>
          <a:solidFill>
            <a:srgbClr val="07111F"/>
          </a:solidFill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RENDER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0287000" y="2184400"/>
            <a:ext cx="6350" cy="213360"/>
          </a:xfrm>
          <a:prstGeom prst="rect">
            <a:avLst/>
          </a:prstGeom>
          <a:solidFill>
            <a:srgbClr val="EEE9E1"/>
          </a:solidFill>
          <a:ln/>
        </p:spPr>
        <p:txBody>
          <a:bodyPr wrap="square" lIns="50800" tIns="50800" rIns="50800" bIns="5080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REAL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4200" y="571500"/>
            <a:ext cx="481965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0"/>
              </a:lnSpc>
              <a:buNone/>
            </a:pPr>
            <a:r>
              <a:rPr lang="en-US" sz="125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O QUE VOCÊ</a:t>
            </a:r>
            <a:endParaRPr lang="en-US" sz="12500" dirty="0"/>
          </a:p>
        </p:txBody>
      </p:sp>
      <p:pic>
        <p:nvPicPr>
          <p:cNvPr id="4" name="Image 0" descr="Render 3D do estande Grunner na Agrish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750" y="386657"/>
            <a:ext cx="3295650" cy="16777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55000" y="571500"/>
            <a:ext cx="34798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0"/>
              </a:lnSpc>
              <a:buNone/>
            </a:pPr>
            <a:r>
              <a:rPr lang="en-US" sz="125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APROVA</a:t>
            </a:r>
            <a:endParaRPr lang="en-US" sz="12500" dirty="0"/>
          </a:p>
        </p:txBody>
      </p:sp>
      <p:sp>
        <p:nvSpPr>
          <p:cNvPr id="6" name="Text 3"/>
          <p:cNvSpPr txBox="1"/>
          <p:nvPr/>
        </p:nvSpPr>
        <p:spPr>
          <a:xfrm>
            <a:off x="558800" y="2673350"/>
            <a:ext cx="4800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0"/>
              </a:lnSpc>
              <a:buNone/>
            </a:pPr>
            <a:r>
              <a:rPr lang="en-US" sz="9750" i="1" spc="-100" kern="0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é o que vai</a:t>
            </a:r>
            <a:endParaRPr lang="en-US" sz="9750" dirty="0"/>
          </a:p>
        </p:txBody>
      </p:sp>
      <p:pic>
        <p:nvPicPr>
          <p:cNvPr id="7" name="Image 1" descr="Estande Grunner montado na Agrish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2546350"/>
            <a:ext cx="2660650" cy="149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80400" y="2673350"/>
            <a:ext cx="32639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0"/>
              </a:lnSpc>
              <a:buNone/>
            </a:pPr>
            <a:r>
              <a:rPr lang="en-US" sz="9750" i="1" spc="-100" kern="0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existir.</a:t>
            </a:r>
            <a:endParaRPr lang="en-US" sz="9750" dirty="0"/>
          </a:p>
        </p:txBody>
      </p:sp>
      <p:sp>
        <p:nvSpPr>
          <p:cNvPr id="9" name="Text 5"/>
          <p:cNvSpPr txBox="1"/>
          <p:nvPr/>
        </p:nvSpPr>
        <p:spPr>
          <a:xfrm>
            <a:off x="5429250" y="212725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RENDER 3D · GRUNNER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29250" y="413385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 MONTADO · AGRISHOW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9600" y="4826000"/>
            <a:ext cx="3454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09600" y="4978400"/>
            <a:ext cx="3454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ARQUITETURA IN HOUSE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09600" y="5524500"/>
            <a:ext cx="3175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Projeto que já nasce pensando na montagem, no prazo e no custo.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67200" y="4826000"/>
            <a:ext cx="3454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267200" y="4978400"/>
            <a:ext cx="3454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PRODUÇÃO INTEGRADA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4267200" y="5524500"/>
            <a:ext cx="3175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Cenografia e produção conduzidas pelo mesmo time, do projeto à montagem.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924800" y="4826000"/>
            <a:ext cx="3454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924800" y="4978400"/>
            <a:ext cx="3454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UM TIME SÓ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7924800" y="5524500"/>
            <a:ext cx="3175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Você fala com as mesmas pessoas do briefing à desmontagem.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2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4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4200" y="355600"/>
            <a:ext cx="8255000" cy="1101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70"/>
              </a:lnSpc>
              <a:buNone/>
            </a:pPr>
            <a:r>
              <a:rPr lang="en-US" sz="8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que </a:t>
            </a:r>
            <a:pPr algn="l" indent="0" marL="0">
              <a:lnSpc>
                <a:spcPts val="8670"/>
              </a:lnSpc>
              <a:buNone/>
            </a:pPr>
            <a:r>
              <a:rPr lang="en-US" sz="8500" i="1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fazemos</a:t>
            </a:r>
            <a:endParaRPr lang="en-US" sz="8500" dirty="0"/>
          </a:p>
        </p:txBody>
      </p:sp>
      <p:sp>
        <p:nvSpPr>
          <p:cNvPr id="4" name="Text 2"/>
          <p:cNvSpPr txBox="1"/>
          <p:nvPr/>
        </p:nvSpPr>
        <p:spPr>
          <a:xfrm>
            <a:off x="8737600" y="762000"/>
            <a:ext cx="28448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Três frentes e um time só. Você fala com as mesmas pessoas do briefing à desmontagem.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600" y="17780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600" y="2057400"/>
            <a:ext cx="50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44600" y="1892300"/>
            <a:ext cx="6985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8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Design e </a:t>
            </a:r>
            <a:pPr algn="l" indent="0" marL="0">
              <a:lnSpc>
                <a:spcPts val="4100"/>
              </a:lnSpc>
              <a:buNone/>
            </a:pPr>
            <a:r>
              <a:rPr lang="en-US" sz="38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arquitetura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1244600" y="2463800"/>
            <a:ext cx="736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Estratégia e projeto que já nascem pensando na obra, no prazo e no custo. Arquitetura in house, com mais sinergia entre conceito e execução.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44600" y="2984500"/>
            <a:ext cx="7493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Estratégia de espaço · Arquitetura de estandes · Projeto 3D e render · Projeto executivo · Ambientes corporativos</a:t>
            </a:r>
            <a:endParaRPr lang="en-US" sz="1200" dirty="0"/>
          </a:p>
        </p:txBody>
      </p:sp>
      <p:pic>
        <p:nvPicPr>
          <p:cNvPr id="10" name="Image 0" descr="/tmp/claude-0/-home-claude/8e1ee178-3aa5-5bd7-bb29-abd60da1bf1a/scratchpad/pptx/img/06968eb861a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0" y="1930400"/>
            <a:ext cx="2286000" cy="13589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600" y="34417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9600" y="3721100"/>
            <a:ext cx="50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244600" y="3556000"/>
            <a:ext cx="6985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8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Cenografia e </a:t>
            </a:r>
            <a:pPr algn="l" indent="0" marL="0">
              <a:lnSpc>
                <a:spcPts val="4100"/>
              </a:lnSpc>
              <a:buNone/>
            </a:pPr>
            <a:r>
              <a:rPr lang="en-US" sz="38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montagem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1244600" y="4127500"/>
            <a:ext cx="736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Estruturas inovadoras, modernas e seguras, criadas para cada projeto. A gente constrói o que projetou e entrega o que o 3D prometeu.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44600" y="4648200"/>
            <a:ext cx="7493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Cenografia · Produção própria · Marcenaria e estruturas · Logística entre cidades · Montagem e desmontagem</a:t>
            </a:r>
            <a:endParaRPr lang="en-US" sz="1200" dirty="0"/>
          </a:p>
        </p:txBody>
      </p:sp>
      <p:pic>
        <p:nvPicPr>
          <p:cNvPr id="16" name="Image 1" descr="/tmp/claude-0/-home-claude/8e1ee178-3aa5-5bd7-bb29-abd60da1bf1a/scratchpad/pptx/img/92bbea60d70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3594100"/>
            <a:ext cx="2286000" cy="13589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9600" y="51054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09600" y="5384800"/>
            <a:ext cx="50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244600" y="5219700"/>
            <a:ext cx="6985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8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Comunicação e </a:t>
            </a:r>
            <a:pPr algn="l" indent="0" marL="0">
              <a:lnSpc>
                <a:spcPts val="4100"/>
              </a:lnSpc>
              <a:buNone/>
            </a:pPr>
            <a:r>
              <a:rPr lang="en-US" sz="38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eventos</a:t>
            </a:r>
            <a:endParaRPr lang="en-US" sz="3800" dirty="0"/>
          </a:p>
        </p:txBody>
      </p:sp>
      <p:sp>
        <p:nvSpPr>
          <p:cNvPr id="20" name="Text 16"/>
          <p:cNvSpPr txBox="1"/>
          <p:nvPr/>
        </p:nvSpPr>
        <p:spPr>
          <a:xfrm>
            <a:off x="1244600" y="5791200"/>
            <a:ext cx="736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Planejamento em live marketing, com entregas inteligentes e personalizadas para cada projeto, do conceito à operação no dia.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244600" y="6311900"/>
            <a:ext cx="7493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Live marketing · Convenções e lançamentos · Brand experience · Conteúdo e audiovisual · Ativações</a:t>
            </a:r>
            <a:endParaRPr lang="en-US" sz="1200" dirty="0"/>
          </a:p>
        </p:txBody>
      </p:sp>
      <p:pic>
        <p:nvPicPr>
          <p:cNvPr id="22" name="Image 2" descr="/tmp/claude-0/-home-claude/8e1ee178-3aa5-5bd7-bb29-abd60da1bf1a/scratchpad/pptx/img/4d93d8c8fa6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5257800"/>
            <a:ext cx="2286000" cy="13589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9600" y="67691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24" name="Shape 19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6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8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4200" y="406400"/>
            <a:ext cx="10795000" cy="1101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70"/>
              </a:lnSpc>
              <a:buNone/>
            </a:pPr>
            <a:r>
              <a:rPr lang="en-US" sz="85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 ideia </a:t>
            </a:r>
            <a:pPr algn="l" indent="0" marL="0">
              <a:lnSpc>
                <a:spcPts val="8670"/>
              </a:lnSpc>
              <a:buNone/>
            </a:pPr>
            <a:r>
              <a:rPr lang="en-US" sz="8500" i="1" spc="-10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ao impacto.</a:t>
            </a:r>
            <a:endParaRPr lang="en-US" sz="85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1714500"/>
            <a:ext cx="7620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Cada projeto segue a mesma jornada, com controle de cada etapa.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09600" y="2667000"/>
            <a:ext cx="16256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9600" y="2819400"/>
            <a:ext cx="162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55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3746500"/>
            <a:ext cx="1625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0"/>
              </a:lnSpc>
              <a:buNone/>
            </a:pPr>
            <a:r>
              <a:rPr lang="en-US" sz="2700" dirty="0">
                <a:solidFill>
                  <a:srgbClr val="EEE9E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BRIEFING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4254500"/>
            <a:ext cx="1587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Mergulho no universo do cliente: desafios, objetivos, público e contexto.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38400" y="2667000"/>
            <a:ext cx="16256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438400" y="2819400"/>
            <a:ext cx="162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5500" dirty="0"/>
          </a:p>
        </p:txBody>
      </p:sp>
      <p:sp>
        <p:nvSpPr>
          <p:cNvPr id="11" name="Text 8"/>
          <p:cNvSpPr txBox="1"/>
          <p:nvPr/>
        </p:nvSpPr>
        <p:spPr>
          <a:xfrm>
            <a:off x="2438400" y="3746500"/>
            <a:ext cx="1625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0"/>
              </a:lnSpc>
              <a:buNone/>
            </a:pPr>
            <a:r>
              <a:rPr lang="en-US" sz="2700" dirty="0">
                <a:solidFill>
                  <a:srgbClr val="EEE9E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PLANEJAMENTO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2438400" y="4254500"/>
            <a:ext cx="1587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Uma rota com lógica e propósito: comportamento, território da marca e oportunidades.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67200" y="2667000"/>
            <a:ext cx="16256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67200" y="2819400"/>
            <a:ext cx="162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5500" dirty="0"/>
          </a:p>
        </p:txBody>
      </p:sp>
      <p:sp>
        <p:nvSpPr>
          <p:cNvPr id="15" name="Text 12"/>
          <p:cNvSpPr txBox="1"/>
          <p:nvPr/>
        </p:nvSpPr>
        <p:spPr>
          <a:xfrm>
            <a:off x="4267200" y="3746500"/>
            <a:ext cx="1625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0"/>
              </a:lnSpc>
              <a:buNone/>
            </a:pPr>
            <a:r>
              <a:rPr lang="en-US" sz="2700" dirty="0">
                <a:solidFill>
                  <a:srgbClr val="EEE9E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CRIAÇÃO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4267200" y="4254500"/>
            <a:ext cx="1587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Estratégia, design e conceito em soluções de experiência, forma e fluxo.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96000" y="2667000"/>
            <a:ext cx="16256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96000" y="2819400"/>
            <a:ext cx="162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04</a:t>
            </a:r>
            <a:endParaRPr lang="en-US" sz="5500" dirty="0"/>
          </a:p>
        </p:txBody>
      </p:sp>
      <p:sp>
        <p:nvSpPr>
          <p:cNvPr id="19" name="Text 16"/>
          <p:cNvSpPr txBox="1"/>
          <p:nvPr/>
        </p:nvSpPr>
        <p:spPr>
          <a:xfrm>
            <a:off x="6096000" y="3746500"/>
            <a:ext cx="1625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0"/>
              </a:lnSpc>
              <a:buNone/>
            </a:pPr>
            <a:r>
              <a:rPr lang="en-US" sz="2700" dirty="0">
                <a:solidFill>
                  <a:srgbClr val="EEE9E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CONTROLE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6096000" y="4254500"/>
            <a:ext cx="1587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Prazos, custos, qualidade e segurança técnica de cada material.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24800" y="2667000"/>
            <a:ext cx="16256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924800" y="2819400"/>
            <a:ext cx="162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05</a:t>
            </a:r>
            <a:endParaRPr lang="en-US" sz="5500" dirty="0"/>
          </a:p>
        </p:txBody>
      </p:sp>
      <p:sp>
        <p:nvSpPr>
          <p:cNvPr id="23" name="Text 20"/>
          <p:cNvSpPr txBox="1"/>
          <p:nvPr/>
        </p:nvSpPr>
        <p:spPr>
          <a:xfrm>
            <a:off x="7924800" y="3746500"/>
            <a:ext cx="1625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0"/>
              </a:lnSpc>
              <a:buNone/>
            </a:pPr>
            <a:r>
              <a:rPr lang="en-US" sz="2700" dirty="0">
                <a:solidFill>
                  <a:srgbClr val="EEE9E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OPERAÇÃO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7924800" y="4254500"/>
            <a:ext cx="1587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Relatórios diários, montagem e gestão da operação junto aos fornecedores.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753600" y="2667000"/>
            <a:ext cx="16256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753600" y="2819400"/>
            <a:ext cx="1625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06</a:t>
            </a:r>
            <a:endParaRPr lang="en-US" sz="5500" dirty="0"/>
          </a:p>
        </p:txBody>
      </p:sp>
      <p:sp>
        <p:nvSpPr>
          <p:cNvPr id="27" name="Text 24"/>
          <p:cNvSpPr txBox="1"/>
          <p:nvPr/>
        </p:nvSpPr>
        <p:spPr>
          <a:xfrm>
            <a:off x="9753600" y="3746500"/>
            <a:ext cx="1625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0"/>
              </a:lnSpc>
              <a:buNone/>
            </a:pPr>
            <a:r>
              <a:rPr lang="en-US" sz="2700" dirty="0">
                <a:solidFill>
                  <a:srgbClr val="EEE9E1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MÉTRICAS</a:t>
            </a:r>
            <a:endParaRPr lang="en-US" sz="2700" dirty="0"/>
          </a:p>
        </p:txBody>
      </p:sp>
      <p:sp>
        <p:nvSpPr>
          <p:cNvPr id="28" name="Text 25"/>
          <p:cNvSpPr txBox="1"/>
          <p:nvPr/>
        </p:nvSpPr>
        <p:spPr>
          <a:xfrm>
            <a:off x="9753600" y="4254500"/>
            <a:ext cx="15875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Medição de impacto e aprendizados para a próxima entrega.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31" name="Image 1" descr="Link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33" name="Image 2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4200" y="4064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spc="-1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Onde somos </a:t>
            </a:r>
            <a:pPr algn="l" indent="0" marL="0">
              <a:lnSpc>
                <a:spcPts val="6000"/>
              </a:lnSpc>
              <a:buNone/>
            </a:pPr>
            <a:r>
              <a:rPr lang="en-US" sz="6000" i="1" spc="-150" kern="0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especialistas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9042400" y="609600"/>
            <a:ext cx="25400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Dois setores em que a Stap tem hub próprio e time especializado.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600" y="1841500"/>
            <a:ext cx="5384800" cy="45339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955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HUB 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84400" y="2095500"/>
            <a:ext cx="3505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FEIRAS · DIAS DE CAMPO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3600" y="2984500"/>
            <a:ext cx="482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0"/>
              </a:lnSpc>
              <a:buNone/>
            </a:pPr>
            <a:r>
              <a:rPr lang="en-US" sz="13000" spc="-3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Agro</a:t>
            </a:r>
            <a:endParaRPr lang="en-US" sz="13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26000"/>
            <a:ext cx="35560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Estandes de feira, dias de campo e encontros que falam a língua do produtor.</a:t>
            </a:r>
            <a:endParaRPr lang="en-US" sz="1300" dirty="0"/>
          </a:p>
        </p:txBody>
      </p:sp>
      <p:pic>
        <p:nvPicPr>
          <p:cNvPr id="10" name="Image 0" descr="fm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741021"/>
            <a:ext cx="825500" cy="278158"/>
          </a:xfrm>
          <a:prstGeom prst="rect">
            <a:avLst/>
          </a:prstGeom>
        </p:spPr>
      </p:pic>
      <p:pic>
        <p:nvPicPr>
          <p:cNvPr id="11" name="Image 1" descr="corte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5786451"/>
            <a:ext cx="825500" cy="187298"/>
          </a:xfrm>
          <a:prstGeom prst="rect">
            <a:avLst/>
          </a:prstGeom>
        </p:spPr>
      </p:pic>
      <p:pic>
        <p:nvPicPr>
          <p:cNvPr id="12" name="Image 2" descr="bas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5719856"/>
            <a:ext cx="825500" cy="320488"/>
          </a:xfrm>
          <a:prstGeom prst="rect">
            <a:avLst/>
          </a:prstGeom>
        </p:spPr>
      </p:pic>
      <p:pic>
        <p:nvPicPr>
          <p:cNvPr id="13" name="Image 3" descr="v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50" y="5715000"/>
            <a:ext cx="330200" cy="330200"/>
          </a:xfrm>
          <a:prstGeom prst="rect">
            <a:avLst/>
          </a:prstGeom>
        </p:spPr>
      </p:pic>
      <p:pic>
        <p:nvPicPr>
          <p:cNvPr id="14" name="Image 4" descr="fo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5716558"/>
            <a:ext cx="825500" cy="32708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197600" y="1841500"/>
            <a:ext cx="5384800" cy="453390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6502400" y="20955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HUB 02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7772400" y="2095500"/>
            <a:ext cx="3505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FESTIVAIS · LANÇAMENTOS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6451600" y="2984500"/>
            <a:ext cx="482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0"/>
              </a:lnSpc>
              <a:buNone/>
            </a:pPr>
            <a:r>
              <a:rPr lang="en-US" sz="13000" spc="-3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Auto</a:t>
            </a:r>
            <a:endParaRPr lang="en-US" sz="13000" dirty="0"/>
          </a:p>
        </p:txBody>
      </p:sp>
      <p:sp>
        <p:nvSpPr>
          <p:cNvPr id="19" name="Text 12"/>
          <p:cNvSpPr txBox="1"/>
          <p:nvPr/>
        </p:nvSpPr>
        <p:spPr>
          <a:xfrm>
            <a:off x="6502400" y="4826000"/>
            <a:ext cx="35560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Estandes, festivais, pistas de test-drive e lançamentos de modelo.</a:t>
            </a:r>
            <a:endParaRPr lang="en-US" sz="1300" dirty="0"/>
          </a:p>
        </p:txBody>
      </p:sp>
      <p:pic>
        <p:nvPicPr>
          <p:cNvPr id="20" name="Image 5" descr="v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0050" y="5715000"/>
            <a:ext cx="330200" cy="330200"/>
          </a:xfrm>
          <a:prstGeom prst="rect">
            <a:avLst/>
          </a:prstGeom>
        </p:spPr>
      </p:pic>
      <p:pic>
        <p:nvPicPr>
          <p:cNvPr id="21" name="Image 6" descr="toyot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900" y="5795433"/>
            <a:ext cx="825500" cy="169333"/>
          </a:xfrm>
          <a:prstGeom prst="rect">
            <a:avLst/>
          </a:prstGeom>
        </p:spPr>
      </p:pic>
      <p:pic>
        <p:nvPicPr>
          <p:cNvPr id="22" name="Image 7" descr="ducati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5533" y="5715000"/>
            <a:ext cx="309235" cy="330200"/>
          </a:xfrm>
          <a:prstGeom prst="rect">
            <a:avLst/>
          </a:prstGeom>
        </p:spPr>
      </p:pic>
      <p:pic>
        <p:nvPicPr>
          <p:cNvPr id="23" name="Image 8" descr="harle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1206" y="5715000"/>
            <a:ext cx="422888" cy="330200"/>
          </a:xfrm>
          <a:prstGeom prst="rect">
            <a:avLst/>
          </a:prstGeom>
        </p:spPr>
      </p:pic>
      <p:pic>
        <p:nvPicPr>
          <p:cNvPr id="24" name="Image 9" descr="petrona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2400" y="5715731"/>
            <a:ext cx="825500" cy="328739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7" name="Image 10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9" name="Image 11" descr="Link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6096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PROJETOS EM DESTAQUE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4200" y="889000"/>
            <a:ext cx="11430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60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Experiências que </a:t>
            </a:r>
            <a:pPr algn="l" indent="0" marL="0">
              <a:lnSpc>
                <a:spcPts val="6240"/>
              </a:lnSpc>
              <a:buNone/>
            </a:pPr>
            <a:r>
              <a:rPr lang="en-US" sz="6000" i="1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movem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84200" y="1676400"/>
            <a:ext cx="11430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60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marcas e pessoas.</a:t>
            </a:r>
            <a:endParaRPr lang="en-US" sz="6000" dirty="0"/>
          </a:p>
        </p:txBody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" y="2730500"/>
            <a:ext cx="2590800" cy="2921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9600" y="5791200"/>
            <a:ext cx="2590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1. FESTIVAL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09600" y="6045200"/>
            <a:ext cx="259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Seis capitais, uma temporada.</a:t>
            </a:r>
            <a:endParaRPr lang="en-US" sz="1300" dirty="0"/>
          </a:p>
        </p:txBody>
      </p:sp>
      <p:pic>
        <p:nvPicPr>
          <p:cNvPr id="7" name="Media 1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03600" y="2730500"/>
            <a:ext cx="2590800" cy="2921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403600" y="5791200"/>
            <a:ext cx="2590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2. EVENTO CORPORATIVO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3403600" y="6045200"/>
            <a:ext cx="259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Palco, luz e conteúdo para os conselhos.</a:t>
            </a:r>
            <a:endParaRPr lang="en-US" sz="1300" dirty="0"/>
          </a:p>
        </p:txBody>
      </p:sp>
      <p:pic>
        <p:nvPicPr>
          <p:cNvPr id="12" name="Image 1" descr="Case Toyot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600" y="2730500"/>
            <a:ext cx="2590800" cy="2921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197600" y="5791200"/>
            <a:ext cx="2590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3. AUTOMOBILISMO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197600" y="6045200"/>
            <a:ext cx="259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Test-drives e pilotos no autódromo.</a:t>
            </a:r>
            <a:endParaRPr lang="en-US" sz="1300" dirty="0"/>
          </a:p>
        </p:txBody>
      </p:sp>
      <p:pic>
        <p:nvPicPr>
          <p:cNvPr id="11" name="Media 2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991600" y="2730500"/>
            <a:ext cx="2590800" cy="29210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991600" y="5791200"/>
            <a:ext cx="2590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4. FEIRA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8991600" y="6045200"/>
            <a:ext cx="259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Luz dourada e fila na porta.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2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3" descr="Link">
            <a:hlinkClick r:id="rId17" tooltip="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MENU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4200" y="762000"/>
            <a:ext cx="1079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0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Navegue </a:t>
            </a:r>
            <a:pPr algn="l" indent="0" marL="0">
              <a:lnSpc>
                <a:spcPts val="7200"/>
              </a:lnSpc>
              <a:buNone/>
            </a:pPr>
            <a:r>
              <a:rPr lang="en-US" sz="7000" i="1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por onde quiser.</a:t>
            </a:r>
            <a:endParaRPr lang="en-US" sz="7000" dirty="0"/>
          </a:p>
        </p:txBody>
      </p:sp>
      <p:sp>
        <p:nvSpPr>
          <p:cNvPr id="5" name="Shape 2"/>
          <p:cNvSpPr/>
          <p:nvPr/>
        </p:nvSpPr>
        <p:spPr>
          <a:xfrm>
            <a:off x="609600" y="20320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9600" y="21717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17600" y="20955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Abertura</a:t>
            </a:r>
            <a:endParaRPr lang="en-US" sz="2300" dirty="0"/>
          </a:p>
        </p:txBody>
      </p:sp>
      <p:pic>
        <p:nvPicPr>
          <p:cNvPr id="8" name="Image 1" descr="Link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32000"/>
            <a:ext cx="5207000" cy="482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600" y="25146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09600" y="26543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17600" y="25781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Manifesto</a:t>
            </a:r>
            <a:endParaRPr lang="en-US" sz="2300" dirty="0"/>
          </a:p>
        </p:txBody>
      </p:sp>
      <p:pic>
        <p:nvPicPr>
          <p:cNvPr id="12" name="Image 2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514600"/>
            <a:ext cx="5207000" cy="482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09600" y="29972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09600" y="31369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117600" y="30607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manifesto</a:t>
            </a:r>
            <a:endParaRPr lang="en-US" sz="2300" dirty="0"/>
          </a:p>
        </p:txBody>
      </p:sp>
      <p:pic>
        <p:nvPicPr>
          <p:cNvPr id="16" name="Image 3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997200"/>
            <a:ext cx="5207000" cy="482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09600" y="34798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609600" y="36195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117600" y="35433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Números</a:t>
            </a:r>
            <a:endParaRPr lang="en-US" sz="2300" dirty="0"/>
          </a:p>
        </p:txBody>
      </p:sp>
      <p:pic>
        <p:nvPicPr>
          <p:cNvPr id="20" name="Image 4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479800"/>
            <a:ext cx="5207000" cy="4826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09600" y="39624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609600" y="41021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1117600" y="40259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 render ao real</a:t>
            </a:r>
            <a:endParaRPr lang="en-US" sz="2300" dirty="0"/>
          </a:p>
        </p:txBody>
      </p:sp>
      <p:pic>
        <p:nvPicPr>
          <p:cNvPr id="24" name="Image 5" descr="Link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962400"/>
            <a:ext cx="5207000" cy="482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09600" y="44450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09600" y="45847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1117600" y="45085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que fazemos</a:t>
            </a:r>
            <a:endParaRPr lang="en-US" sz="2300" dirty="0"/>
          </a:p>
        </p:txBody>
      </p:sp>
      <p:pic>
        <p:nvPicPr>
          <p:cNvPr id="28" name="Image 6" descr="Link">
            <a:hlinkClick r:id="rId19" tooltip="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445000"/>
            <a:ext cx="5207000" cy="4826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09600" y="49276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609600" y="50673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2"/>
          <p:cNvSpPr txBox="1"/>
          <p:nvPr/>
        </p:nvSpPr>
        <p:spPr>
          <a:xfrm>
            <a:off x="1117600" y="49911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Especialistas</a:t>
            </a:r>
            <a:endParaRPr lang="en-US" sz="2300" dirty="0"/>
          </a:p>
        </p:txBody>
      </p:sp>
      <p:pic>
        <p:nvPicPr>
          <p:cNvPr id="32" name="Image 7" descr="Link">
            <a:hlinkClick r:id="rId22" tooltip="" action="ppaction://hlinksldjump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4927600"/>
            <a:ext cx="5207000" cy="48260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09600" y="54102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34" name="Text 24"/>
          <p:cNvSpPr txBox="1"/>
          <p:nvPr/>
        </p:nvSpPr>
        <p:spPr>
          <a:xfrm>
            <a:off x="609600" y="55499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1117600" y="54737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Projetos em destaque</a:t>
            </a:r>
            <a:endParaRPr lang="en-US" sz="2300" dirty="0"/>
          </a:p>
        </p:txBody>
      </p:sp>
      <p:pic>
        <p:nvPicPr>
          <p:cNvPr id="36" name="Image 8" descr="Link">
            <a:hlinkClick r:id="rId25" tooltip="" action="ppaction://hlinksldjump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5410200"/>
            <a:ext cx="5207000" cy="48260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609600" y="58928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38" name="Text 27"/>
          <p:cNvSpPr txBox="1"/>
          <p:nvPr/>
        </p:nvSpPr>
        <p:spPr>
          <a:xfrm>
            <a:off x="609600" y="60325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28"/>
          <p:cNvSpPr txBox="1"/>
          <p:nvPr/>
        </p:nvSpPr>
        <p:spPr>
          <a:xfrm>
            <a:off x="1117600" y="59563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 e cases</a:t>
            </a:r>
            <a:endParaRPr lang="en-US" sz="2300" dirty="0"/>
          </a:p>
        </p:txBody>
      </p:sp>
      <p:pic>
        <p:nvPicPr>
          <p:cNvPr id="40" name="Image 9" descr="Link">
            <a:hlinkClick r:id="rId28" tooltip="" action="ppaction://hlinksldjump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5892800"/>
            <a:ext cx="5207000" cy="48260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6197600" y="20320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42" name="Text 30"/>
          <p:cNvSpPr txBox="1"/>
          <p:nvPr/>
        </p:nvSpPr>
        <p:spPr>
          <a:xfrm>
            <a:off x="6197600" y="21717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6705600" y="20955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2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Agronegócio</a:t>
            </a:r>
            <a:endParaRPr lang="en-US" sz="2300" dirty="0"/>
          </a:p>
        </p:txBody>
      </p:sp>
      <p:pic>
        <p:nvPicPr>
          <p:cNvPr id="44" name="Image 10" descr="Link">
            <a:hlinkClick r:id="rId31" tooltip="" action="ppaction://hlinksldjump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97600" y="2032000"/>
            <a:ext cx="5207000" cy="48260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6197600" y="25146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46" name="Text 33"/>
          <p:cNvSpPr txBox="1"/>
          <p:nvPr/>
        </p:nvSpPr>
        <p:spPr>
          <a:xfrm>
            <a:off x="6197600" y="26543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34"/>
          <p:cNvSpPr txBox="1"/>
          <p:nvPr/>
        </p:nvSpPr>
        <p:spPr>
          <a:xfrm>
            <a:off x="6705600" y="25781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3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Automotivo</a:t>
            </a:r>
            <a:endParaRPr lang="en-US" sz="2300" dirty="0"/>
          </a:p>
        </p:txBody>
      </p:sp>
      <p:pic>
        <p:nvPicPr>
          <p:cNvPr id="48" name="Image 11" descr="Link">
            <a:hlinkClick r:id="rId34" tooltip="" action="ppaction://hlinksldjump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97600" y="2514600"/>
            <a:ext cx="5207000" cy="482600"/>
          </a:xfrm>
          <a:prstGeom prst="rect">
            <a:avLst/>
          </a:prstGeom>
        </p:spPr>
      </p:pic>
      <p:sp>
        <p:nvSpPr>
          <p:cNvPr id="49" name="Shape 35"/>
          <p:cNvSpPr/>
          <p:nvPr/>
        </p:nvSpPr>
        <p:spPr>
          <a:xfrm>
            <a:off x="6197600" y="29972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50" name="Text 36"/>
          <p:cNvSpPr txBox="1"/>
          <p:nvPr/>
        </p:nvSpPr>
        <p:spPr>
          <a:xfrm>
            <a:off x="6197600" y="31369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37"/>
          <p:cNvSpPr txBox="1"/>
          <p:nvPr/>
        </p:nvSpPr>
        <p:spPr>
          <a:xfrm>
            <a:off x="6705600" y="30607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3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Consumo e varejo</a:t>
            </a:r>
            <a:endParaRPr lang="en-US" sz="2300" dirty="0"/>
          </a:p>
        </p:txBody>
      </p:sp>
      <p:pic>
        <p:nvPicPr>
          <p:cNvPr id="52" name="Image 12" descr="Link">
            <a:hlinkClick r:id="rId37" tooltip="" action="ppaction://hlinksldjump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197600" y="2997200"/>
            <a:ext cx="5207000" cy="482600"/>
          </a:xfrm>
          <a:prstGeom prst="rect">
            <a:avLst/>
          </a:prstGeom>
        </p:spPr>
      </p:pic>
      <p:sp>
        <p:nvSpPr>
          <p:cNvPr id="53" name="Shape 38"/>
          <p:cNvSpPr/>
          <p:nvPr/>
        </p:nvSpPr>
        <p:spPr>
          <a:xfrm>
            <a:off x="6197600" y="34798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54" name="Text 39"/>
          <p:cNvSpPr txBox="1"/>
          <p:nvPr/>
        </p:nvSpPr>
        <p:spPr>
          <a:xfrm>
            <a:off x="6197600" y="36195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13</a:t>
            </a:r>
            <a:endParaRPr lang="en-US" sz="1100" dirty="0"/>
          </a:p>
        </p:txBody>
      </p:sp>
      <p:sp>
        <p:nvSpPr>
          <p:cNvPr id="55" name="Text 40"/>
          <p:cNvSpPr txBox="1"/>
          <p:nvPr/>
        </p:nvSpPr>
        <p:spPr>
          <a:xfrm>
            <a:off x="6705600" y="35433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3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Indústria e corporativo</a:t>
            </a:r>
            <a:endParaRPr lang="en-US" sz="2300" dirty="0"/>
          </a:p>
        </p:txBody>
      </p:sp>
      <p:pic>
        <p:nvPicPr>
          <p:cNvPr id="56" name="Image 13" descr="Link">
            <a:hlinkClick r:id="rId40" tooltip="" action="ppaction://hlinksldjump"/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197600" y="3479800"/>
            <a:ext cx="5207000" cy="482600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6197600" y="39624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58" name="Text 42"/>
          <p:cNvSpPr txBox="1"/>
          <p:nvPr/>
        </p:nvSpPr>
        <p:spPr>
          <a:xfrm>
            <a:off x="6197600" y="41021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14</a:t>
            </a:r>
            <a:endParaRPr lang="en-US" sz="1100" dirty="0"/>
          </a:p>
        </p:txBody>
      </p:sp>
      <p:sp>
        <p:nvSpPr>
          <p:cNvPr id="59" name="Text 43"/>
          <p:cNvSpPr txBox="1"/>
          <p:nvPr/>
        </p:nvSpPr>
        <p:spPr>
          <a:xfrm>
            <a:off x="6705600" y="40259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4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Parceiros</a:t>
            </a:r>
            <a:endParaRPr lang="en-US" sz="2300" dirty="0"/>
          </a:p>
        </p:txBody>
      </p:sp>
      <p:pic>
        <p:nvPicPr>
          <p:cNvPr id="60" name="Image 14" descr="Link">
            <a:hlinkClick r:id="rId43" tooltip="" action="ppaction://hlinksldjump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197600" y="3962400"/>
            <a:ext cx="5207000" cy="482600"/>
          </a:xfrm>
          <a:prstGeom prst="rect">
            <a:avLst/>
          </a:prstGeom>
        </p:spPr>
      </p:pic>
      <p:sp>
        <p:nvSpPr>
          <p:cNvPr id="61" name="Shape 44"/>
          <p:cNvSpPr/>
          <p:nvPr/>
        </p:nvSpPr>
        <p:spPr>
          <a:xfrm>
            <a:off x="6197600" y="44450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62" name="Text 45"/>
          <p:cNvSpPr txBox="1"/>
          <p:nvPr/>
        </p:nvSpPr>
        <p:spPr>
          <a:xfrm>
            <a:off x="6197600" y="45847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15</a:t>
            </a:r>
            <a:endParaRPr lang="en-US" sz="1100" dirty="0"/>
          </a:p>
        </p:txBody>
      </p:sp>
      <p:sp>
        <p:nvSpPr>
          <p:cNvPr id="63" name="Text 46"/>
          <p:cNvSpPr txBox="1"/>
          <p:nvPr/>
        </p:nvSpPr>
        <p:spPr>
          <a:xfrm>
            <a:off x="6705600" y="45085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4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Casa</a:t>
            </a:r>
            <a:endParaRPr lang="en-US" sz="2300" dirty="0"/>
          </a:p>
        </p:txBody>
      </p:sp>
      <p:pic>
        <p:nvPicPr>
          <p:cNvPr id="64" name="Image 15" descr="Link">
            <a:hlinkClick r:id="rId46" tooltip="" action="ppaction://hlinksldjump"/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197600" y="4445000"/>
            <a:ext cx="5207000" cy="482600"/>
          </a:xfrm>
          <a:prstGeom prst="rect">
            <a:avLst/>
          </a:prstGeom>
        </p:spPr>
      </p:pic>
      <p:sp>
        <p:nvSpPr>
          <p:cNvPr id="65" name="Shape 47"/>
          <p:cNvSpPr/>
          <p:nvPr/>
        </p:nvSpPr>
        <p:spPr>
          <a:xfrm>
            <a:off x="6197600" y="49276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66" name="Text 48"/>
          <p:cNvSpPr txBox="1"/>
          <p:nvPr/>
        </p:nvSpPr>
        <p:spPr>
          <a:xfrm>
            <a:off x="6197600" y="50673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16</a:t>
            </a:r>
            <a:endParaRPr lang="en-US" sz="1100" dirty="0"/>
          </a:p>
        </p:txBody>
      </p:sp>
      <p:sp>
        <p:nvSpPr>
          <p:cNvPr id="67" name="Text 49"/>
          <p:cNvSpPr txBox="1"/>
          <p:nvPr/>
        </p:nvSpPr>
        <p:spPr>
          <a:xfrm>
            <a:off x="6705600" y="49911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4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Pessoas</a:t>
            </a:r>
            <a:endParaRPr lang="en-US" sz="2300" dirty="0"/>
          </a:p>
        </p:txBody>
      </p:sp>
      <p:pic>
        <p:nvPicPr>
          <p:cNvPr id="68" name="Image 16" descr="Link">
            <a:hlinkClick r:id="rId49" tooltip="" action="ppaction://hlinksldjump"/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197600" y="4927600"/>
            <a:ext cx="5207000" cy="482600"/>
          </a:xfrm>
          <a:prstGeom prst="rect">
            <a:avLst/>
          </a:prstGeom>
        </p:spPr>
      </p:pic>
      <p:sp>
        <p:nvSpPr>
          <p:cNvPr id="69" name="Shape 50"/>
          <p:cNvSpPr/>
          <p:nvPr/>
        </p:nvSpPr>
        <p:spPr>
          <a:xfrm>
            <a:off x="6197600" y="5410200"/>
            <a:ext cx="5207000" cy="6350"/>
          </a:xfrm>
          <a:prstGeom prst="rect">
            <a:avLst/>
          </a:prstGeom>
          <a:solidFill>
            <a:srgbClr val="3B5576"/>
          </a:solidFill>
          <a:ln/>
        </p:spPr>
      </p:sp>
      <p:sp>
        <p:nvSpPr>
          <p:cNvPr id="70" name="Text 51"/>
          <p:cNvSpPr txBox="1"/>
          <p:nvPr/>
        </p:nvSpPr>
        <p:spPr>
          <a:xfrm>
            <a:off x="6197600" y="5549900"/>
            <a:ext cx="4445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17</a:t>
            </a:r>
            <a:endParaRPr lang="en-US" sz="1100" dirty="0"/>
          </a:p>
        </p:txBody>
      </p:sp>
      <p:sp>
        <p:nvSpPr>
          <p:cNvPr id="71" name="Text 52"/>
          <p:cNvSpPr txBox="1"/>
          <p:nvPr/>
        </p:nvSpPr>
        <p:spPr>
          <a:xfrm>
            <a:off x="6705600" y="5473700"/>
            <a:ext cx="4572000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Contato</a:t>
            </a:r>
            <a:endParaRPr lang="en-US" sz="2300" dirty="0"/>
          </a:p>
        </p:txBody>
      </p:sp>
      <p:pic>
        <p:nvPicPr>
          <p:cNvPr id="72" name="Image 17" descr="Link">
            <a:hlinkClick r:id="rId52" tooltip="" action="ppaction://hlinksldjump"/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97600" y="5410200"/>
            <a:ext cx="5207000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aca86b3e7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508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CLIENTES E CASES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4200" y="762000"/>
            <a:ext cx="952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00"/>
              </a:lnSpc>
              <a:buNone/>
            </a:pPr>
            <a:r>
              <a:rPr lang="en-US" sz="80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Escolha uma </a:t>
            </a:r>
            <a:pPr algn="l" indent="0" marL="0">
              <a:lnSpc>
                <a:spcPts val="8200"/>
              </a:lnSpc>
              <a:buNone/>
            </a:pPr>
            <a:r>
              <a:rPr lang="en-US" sz="8000" i="1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marca.</a:t>
            </a:r>
            <a:endParaRPr lang="en-US" sz="8000" dirty="0"/>
          </a:p>
        </p:txBody>
      </p:sp>
      <p:sp>
        <p:nvSpPr>
          <p:cNvPr id="5" name="Text 2"/>
          <p:cNvSpPr txBox="1"/>
          <p:nvPr/>
        </p:nvSpPr>
        <p:spPr>
          <a:xfrm>
            <a:off x="8026400" y="1181100"/>
            <a:ext cx="355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19 clientes · 26 cases. Clique numa marca para ver os projetos.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9600" y="2095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7" name="Image 1" descr="BASF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38" y="2343150"/>
            <a:ext cx="1144924" cy="4445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1200" y="2908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9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95500"/>
            <a:ext cx="2133600" cy="1066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819400" y="2095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11" name="Image 3" descr="Braskem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950" y="2367784"/>
            <a:ext cx="1206500" cy="39523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2921000" y="2908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13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9400" y="2095500"/>
            <a:ext cx="2133600" cy="10668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029200" y="2095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15" name="Image 5" descr="Corteva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2750" y="2428528"/>
            <a:ext cx="1206500" cy="2737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130800" y="2908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4 CASES</a:t>
            </a:r>
            <a:endParaRPr lang="en-US" sz="10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2095500"/>
            <a:ext cx="2133600" cy="106680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239000" y="2095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19" name="Image 7" descr="Ducati">
            <a:hlinkClick r:id="rId15" tooltip="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7661" y="2343150"/>
            <a:ext cx="416278" cy="4445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7340600" y="2908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21" name="Image 8" descr="Link">
            <a:hlinkClick r:id="rId17" tooltip="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0" y="2095500"/>
            <a:ext cx="2133600" cy="1066800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9448800" y="2095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23" name="Image 9" descr="FMC">
            <a:hlinkClick r:id="rId19" tooltip="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12350" y="2362131"/>
            <a:ext cx="1206500" cy="406538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9550400" y="2908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25" name="Image 10" descr="Link">
            <a:hlinkClick r:id="rId21" tooltip="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48800" y="2095500"/>
            <a:ext cx="2133600" cy="1066800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609600" y="3238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27" name="Image 11" descr="Ford">
            <a:hlinkClick r:id="rId23" tooltip="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5483" y="3486150"/>
            <a:ext cx="1121833" cy="44450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711200" y="4051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29" name="Image 12" descr="Link">
            <a:hlinkClick r:id="rId25" tooltip="" action="ppaction://hlinksldjump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3238500"/>
            <a:ext cx="2133600" cy="1066800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2819400" y="3238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sp>
        <p:nvSpPr>
          <p:cNvPr id="31" name="Text 16"/>
          <p:cNvSpPr txBox="1"/>
          <p:nvPr/>
        </p:nvSpPr>
        <p:spPr>
          <a:xfrm>
            <a:off x="2819400" y="3517900"/>
            <a:ext cx="21336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GRUNNER</a:t>
            </a:r>
            <a:endParaRPr lang="en-US" sz="2700" dirty="0"/>
          </a:p>
        </p:txBody>
      </p:sp>
      <p:sp>
        <p:nvSpPr>
          <p:cNvPr id="32" name="Text 17"/>
          <p:cNvSpPr txBox="1"/>
          <p:nvPr/>
        </p:nvSpPr>
        <p:spPr>
          <a:xfrm>
            <a:off x="2921000" y="4051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33" name="Image 13" descr="Link">
            <a:hlinkClick r:id="rId27" tooltip="" action="ppaction://hlinksldjump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19400" y="3238500"/>
            <a:ext cx="2133600" cy="1066800"/>
          </a:xfrm>
          <a:prstGeom prst="rect">
            <a:avLst/>
          </a:prstGeom>
        </p:spPr>
      </p:pic>
      <p:sp>
        <p:nvSpPr>
          <p:cNvPr id="34" name="Shape 18"/>
          <p:cNvSpPr/>
          <p:nvPr/>
        </p:nvSpPr>
        <p:spPr>
          <a:xfrm>
            <a:off x="5029200" y="3238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35" name="Image 14" descr="Harley-Davidson">
            <a:hlinkClick r:id="rId29" tooltip="" action="ppaction://hlinksldjump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11364" y="3486150"/>
            <a:ext cx="569272" cy="44450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5130800" y="4051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37" name="Image 15" descr="Link">
            <a:hlinkClick r:id="rId31" tooltip="" action="ppaction://hlinksldjump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29200" y="3238500"/>
            <a:ext cx="2133600" cy="1066800"/>
          </a:xfrm>
          <a:prstGeom prst="rect">
            <a:avLst/>
          </a:prstGeom>
        </p:spPr>
      </p:pic>
      <p:sp>
        <p:nvSpPr>
          <p:cNvPr id="38" name="Shape 20"/>
          <p:cNvSpPr/>
          <p:nvPr/>
        </p:nvSpPr>
        <p:spPr>
          <a:xfrm>
            <a:off x="7239000" y="3238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39" name="Image 16" descr="Lorenzetti">
            <a:hlinkClick r:id="rId33" tooltip="" action="ppaction://hlinksldjump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2550" y="3601630"/>
            <a:ext cx="1206500" cy="213540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7340600" y="4051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41" name="Image 17" descr="Link">
            <a:hlinkClick r:id="rId35" tooltip="" action="ppaction://hlinksldjump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239000" y="3238500"/>
            <a:ext cx="2133600" cy="1066800"/>
          </a:xfrm>
          <a:prstGeom prst="rect">
            <a:avLst/>
          </a:prstGeom>
        </p:spPr>
      </p:pic>
      <p:sp>
        <p:nvSpPr>
          <p:cNvPr id="42" name="Shape 22"/>
          <p:cNvSpPr/>
          <p:nvPr/>
        </p:nvSpPr>
        <p:spPr>
          <a:xfrm>
            <a:off x="9448800" y="3238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43" name="Image 18" descr="Mutant">
            <a:hlinkClick r:id="rId37" tooltip="" action="ppaction://hlinksldjump"/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12350" y="3494022"/>
            <a:ext cx="1206500" cy="428756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9550400" y="4051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45" name="Image 19" descr="Link">
            <a:hlinkClick r:id="rId39" tooltip="" action="ppaction://hlinksldjump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448800" y="3238500"/>
            <a:ext cx="2133600" cy="1066800"/>
          </a:xfrm>
          <a:prstGeom prst="rect">
            <a:avLst/>
          </a:prstGeom>
        </p:spPr>
      </p:pic>
      <p:sp>
        <p:nvSpPr>
          <p:cNvPr id="46" name="Shape 24"/>
          <p:cNvSpPr/>
          <p:nvPr/>
        </p:nvSpPr>
        <p:spPr>
          <a:xfrm>
            <a:off x="609600" y="4381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47" name="Image 20" descr="NuPay">
            <a:hlinkClick r:id="rId41" tooltip="" action="ppaction://hlinksldjump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73150" y="4704041"/>
            <a:ext cx="1206500" cy="294718"/>
          </a:xfrm>
          <a:prstGeom prst="rect">
            <a:avLst/>
          </a:prstGeom>
        </p:spPr>
      </p:pic>
      <p:sp>
        <p:nvSpPr>
          <p:cNvPr id="48" name="Text 25"/>
          <p:cNvSpPr txBox="1"/>
          <p:nvPr/>
        </p:nvSpPr>
        <p:spPr>
          <a:xfrm>
            <a:off x="711200" y="5194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49" name="Image 21" descr="Link">
            <a:hlinkClick r:id="rId43" tooltip="" action="ppaction://hlinksldjump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9600" y="4381500"/>
            <a:ext cx="2133600" cy="1066800"/>
          </a:xfrm>
          <a:prstGeom prst="rect">
            <a:avLst/>
          </a:prstGeom>
        </p:spPr>
      </p:pic>
      <p:sp>
        <p:nvSpPr>
          <p:cNvPr id="50" name="Shape 26"/>
          <p:cNvSpPr/>
          <p:nvPr/>
        </p:nvSpPr>
        <p:spPr>
          <a:xfrm>
            <a:off x="2819400" y="4381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sp>
        <p:nvSpPr>
          <p:cNvPr id="51" name="Text 27"/>
          <p:cNvSpPr txBox="1"/>
          <p:nvPr/>
        </p:nvSpPr>
        <p:spPr>
          <a:xfrm>
            <a:off x="2819400" y="4660900"/>
            <a:ext cx="21336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OX COSMÉTICOS</a:t>
            </a:r>
            <a:endParaRPr lang="en-US" sz="2700" dirty="0"/>
          </a:p>
        </p:txBody>
      </p:sp>
      <p:sp>
        <p:nvSpPr>
          <p:cNvPr id="52" name="Text 28"/>
          <p:cNvSpPr txBox="1"/>
          <p:nvPr/>
        </p:nvSpPr>
        <p:spPr>
          <a:xfrm>
            <a:off x="2921000" y="5194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53" name="Image 22" descr="Link">
            <a:hlinkClick r:id="rId45" tooltip="" action="ppaction://hlinksldjump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819400" y="4381500"/>
            <a:ext cx="2133600" cy="1066800"/>
          </a:xfrm>
          <a:prstGeom prst="rect">
            <a:avLst/>
          </a:prstGeom>
        </p:spPr>
      </p:pic>
      <p:sp>
        <p:nvSpPr>
          <p:cNvPr id="54" name="Shape 29"/>
          <p:cNvSpPr/>
          <p:nvPr/>
        </p:nvSpPr>
        <p:spPr>
          <a:xfrm>
            <a:off x="5029200" y="4381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55" name="Image 23" descr="PepsiCo">
            <a:hlinkClick r:id="rId47" tooltip="" action="ppaction://hlinksldjump"/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492750" y="4694787"/>
            <a:ext cx="1206500" cy="313226"/>
          </a:xfrm>
          <a:prstGeom prst="rect">
            <a:avLst/>
          </a:prstGeom>
        </p:spPr>
      </p:pic>
      <p:sp>
        <p:nvSpPr>
          <p:cNvPr id="56" name="Text 30"/>
          <p:cNvSpPr txBox="1"/>
          <p:nvPr/>
        </p:nvSpPr>
        <p:spPr>
          <a:xfrm>
            <a:off x="5130800" y="5194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57" name="Image 24" descr="Link">
            <a:hlinkClick r:id="rId49" tooltip="" action="ppaction://hlinksldjump"/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029200" y="4381500"/>
            <a:ext cx="2133600" cy="1066800"/>
          </a:xfrm>
          <a:prstGeom prst="rect">
            <a:avLst/>
          </a:prstGeom>
        </p:spPr>
      </p:pic>
      <p:sp>
        <p:nvSpPr>
          <p:cNvPr id="58" name="Shape 31"/>
          <p:cNvSpPr/>
          <p:nvPr/>
        </p:nvSpPr>
        <p:spPr>
          <a:xfrm>
            <a:off x="7239000" y="4381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59" name="Image 25" descr="Petronas">
            <a:hlinkClick r:id="rId51" tooltip="" action="ppaction://hlinksldjump"/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747706" y="4629150"/>
            <a:ext cx="1116189" cy="444500"/>
          </a:xfrm>
          <a:prstGeom prst="rect">
            <a:avLst/>
          </a:prstGeom>
        </p:spPr>
      </p:pic>
      <p:sp>
        <p:nvSpPr>
          <p:cNvPr id="60" name="Text 32"/>
          <p:cNvSpPr txBox="1"/>
          <p:nvPr/>
        </p:nvSpPr>
        <p:spPr>
          <a:xfrm>
            <a:off x="7340600" y="5194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61" name="Image 26" descr="Link">
            <a:hlinkClick r:id="rId53" tooltip="" action="ppaction://hlinksldjump"/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239000" y="4381500"/>
            <a:ext cx="2133600" cy="1066800"/>
          </a:xfrm>
          <a:prstGeom prst="rect">
            <a:avLst/>
          </a:prstGeom>
        </p:spPr>
      </p:pic>
      <p:sp>
        <p:nvSpPr>
          <p:cNvPr id="62" name="Shape 33"/>
          <p:cNvSpPr/>
          <p:nvPr/>
        </p:nvSpPr>
        <p:spPr>
          <a:xfrm>
            <a:off x="9448800" y="4381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sp>
        <p:nvSpPr>
          <p:cNvPr id="63" name="Text 34"/>
          <p:cNvSpPr txBox="1"/>
          <p:nvPr/>
        </p:nvSpPr>
        <p:spPr>
          <a:xfrm>
            <a:off x="9448800" y="4660900"/>
            <a:ext cx="21336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SEARA</a:t>
            </a:r>
            <a:endParaRPr lang="en-US" sz="2700" dirty="0"/>
          </a:p>
        </p:txBody>
      </p:sp>
      <p:sp>
        <p:nvSpPr>
          <p:cNvPr id="64" name="Text 35"/>
          <p:cNvSpPr txBox="1"/>
          <p:nvPr/>
        </p:nvSpPr>
        <p:spPr>
          <a:xfrm>
            <a:off x="9550400" y="5194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2 CASES</a:t>
            </a:r>
            <a:endParaRPr lang="en-US" sz="1000" dirty="0"/>
          </a:p>
        </p:txBody>
      </p:sp>
      <p:pic>
        <p:nvPicPr>
          <p:cNvPr id="65" name="Image 27" descr="Link">
            <a:hlinkClick r:id="rId55" tooltip="" action="ppaction://hlinksldjump"/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448800" y="4381500"/>
            <a:ext cx="2133600" cy="1066800"/>
          </a:xfrm>
          <a:prstGeom prst="rect">
            <a:avLst/>
          </a:prstGeom>
        </p:spPr>
      </p:pic>
      <p:sp>
        <p:nvSpPr>
          <p:cNvPr id="66" name="Shape 36"/>
          <p:cNvSpPr/>
          <p:nvPr/>
        </p:nvSpPr>
        <p:spPr>
          <a:xfrm>
            <a:off x="609600" y="5524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67" name="Image 28" descr="Sherwin-Williams">
            <a:hlinkClick r:id="rId57" tooltip="" action="ppaction://hlinksldjump"/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189567" y="5772150"/>
            <a:ext cx="973667" cy="444500"/>
          </a:xfrm>
          <a:prstGeom prst="rect">
            <a:avLst/>
          </a:prstGeom>
        </p:spPr>
      </p:pic>
      <p:sp>
        <p:nvSpPr>
          <p:cNvPr id="68" name="Text 37"/>
          <p:cNvSpPr txBox="1"/>
          <p:nvPr/>
        </p:nvSpPr>
        <p:spPr>
          <a:xfrm>
            <a:off x="711200" y="6337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69" name="Image 29" descr="Link">
            <a:hlinkClick r:id="rId59" tooltip="" action="ppaction://hlinksldjump"/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09600" y="5524500"/>
            <a:ext cx="2133600" cy="1066800"/>
          </a:xfrm>
          <a:prstGeom prst="rect">
            <a:avLst/>
          </a:prstGeom>
        </p:spPr>
      </p:pic>
      <p:sp>
        <p:nvSpPr>
          <p:cNvPr id="70" name="Shape 38"/>
          <p:cNvSpPr/>
          <p:nvPr/>
        </p:nvSpPr>
        <p:spPr>
          <a:xfrm>
            <a:off x="2819400" y="5524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sp>
        <p:nvSpPr>
          <p:cNvPr id="71" name="Text 39"/>
          <p:cNvSpPr txBox="1"/>
          <p:nvPr/>
        </p:nvSpPr>
        <p:spPr>
          <a:xfrm>
            <a:off x="2819400" y="5803900"/>
            <a:ext cx="21336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7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SYNGENTA</a:t>
            </a:r>
            <a:endParaRPr lang="en-US" sz="2700" dirty="0"/>
          </a:p>
        </p:txBody>
      </p:sp>
      <p:sp>
        <p:nvSpPr>
          <p:cNvPr id="72" name="Text 40"/>
          <p:cNvSpPr txBox="1"/>
          <p:nvPr/>
        </p:nvSpPr>
        <p:spPr>
          <a:xfrm>
            <a:off x="2921000" y="6337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1 CASE</a:t>
            </a:r>
            <a:endParaRPr lang="en-US" sz="1000" dirty="0"/>
          </a:p>
        </p:txBody>
      </p:sp>
      <p:pic>
        <p:nvPicPr>
          <p:cNvPr id="73" name="Image 30" descr="Link">
            <a:hlinkClick r:id="rId61" tooltip="" action="ppaction://hlinksldjump"/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819400" y="5524500"/>
            <a:ext cx="2133600" cy="1066800"/>
          </a:xfrm>
          <a:prstGeom prst="rect">
            <a:avLst/>
          </a:prstGeom>
        </p:spPr>
      </p:pic>
      <p:sp>
        <p:nvSpPr>
          <p:cNvPr id="74" name="Shape 41"/>
          <p:cNvSpPr/>
          <p:nvPr/>
        </p:nvSpPr>
        <p:spPr>
          <a:xfrm>
            <a:off x="5029200" y="5524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75" name="Image 31" descr="Toyota">
            <a:hlinkClick r:id="rId63" tooltip="" action="ppaction://hlinksldjump"/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492750" y="5870656"/>
            <a:ext cx="1206500" cy="247487"/>
          </a:xfrm>
          <a:prstGeom prst="rect">
            <a:avLst/>
          </a:prstGeom>
        </p:spPr>
      </p:pic>
      <p:sp>
        <p:nvSpPr>
          <p:cNvPr id="76" name="Text 42"/>
          <p:cNvSpPr txBox="1"/>
          <p:nvPr/>
        </p:nvSpPr>
        <p:spPr>
          <a:xfrm>
            <a:off x="5130800" y="6337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3 CASES</a:t>
            </a:r>
            <a:endParaRPr lang="en-US" sz="1000" dirty="0"/>
          </a:p>
        </p:txBody>
      </p:sp>
      <p:pic>
        <p:nvPicPr>
          <p:cNvPr id="77" name="Image 32" descr="Link">
            <a:hlinkClick r:id="rId65" tooltip="" action="ppaction://hlinksldjump"/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029200" y="5524500"/>
            <a:ext cx="2133600" cy="1066800"/>
          </a:xfrm>
          <a:prstGeom prst="rect">
            <a:avLst/>
          </a:prstGeom>
        </p:spPr>
      </p:pic>
      <p:sp>
        <p:nvSpPr>
          <p:cNvPr id="78" name="Shape 43"/>
          <p:cNvSpPr/>
          <p:nvPr/>
        </p:nvSpPr>
        <p:spPr>
          <a:xfrm>
            <a:off x="7239000" y="5524500"/>
            <a:ext cx="2133600" cy="1066800"/>
          </a:xfrm>
          <a:prstGeom prst="rect">
            <a:avLst/>
          </a:prstGeom>
          <a:ln w="9525">
            <a:solidFill>
              <a:srgbClr val="BDB5A8"/>
            </a:solidFill>
            <a:prstDash val="solid"/>
          </a:ln>
        </p:spPr>
      </p:sp>
      <p:pic>
        <p:nvPicPr>
          <p:cNvPr id="79" name="Image 33" descr="Volkswagen">
            <a:hlinkClick r:id="rId67" tooltip="" action="ppaction://hlinksldjump"/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083550" y="5772150"/>
            <a:ext cx="444500" cy="444500"/>
          </a:xfrm>
          <a:prstGeom prst="rect">
            <a:avLst/>
          </a:prstGeom>
        </p:spPr>
      </p:pic>
      <p:sp>
        <p:nvSpPr>
          <p:cNvPr id="80" name="Text 44"/>
          <p:cNvSpPr txBox="1"/>
          <p:nvPr/>
        </p:nvSpPr>
        <p:spPr>
          <a:xfrm>
            <a:off x="7340600" y="6337300"/>
            <a:ext cx="1930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spc="10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2 CASES</a:t>
            </a:r>
            <a:endParaRPr lang="en-US" sz="1000" dirty="0"/>
          </a:p>
        </p:txBody>
      </p:sp>
      <p:pic>
        <p:nvPicPr>
          <p:cNvPr id="81" name="Image 34" descr="Link">
            <a:hlinkClick r:id="rId69" tooltip="" action="ppaction://hlinksldjump"/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239000" y="5524500"/>
            <a:ext cx="2133600" cy="1066800"/>
          </a:xfrm>
          <a:prstGeom prst="rect">
            <a:avLst/>
          </a:prstGeom>
        </p:spPr>
      </p:pic>
      <p:sp>
        <p:nvSpPr>
          <p:cNvPr id="82" name="Shape 45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83" name="Text 46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84" name="Image 35" descr="Link">
            <a:hlinkClick r:id="rId72" tooltip="" action="ppaction://hlinksldjump"/>
      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85" name="Text 47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86" name="Image 36" descr="Link">
            <a:hlinkClick r:id="rId75" tooltip="" action="ppaction://hlinksldjump"/>
      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064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(10)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 Projetos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260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Território 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424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Todos os cases 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4200" y="762000"/>
            <a:ext cx="8890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Agronegócio</a:t>
            </a:r>
            <a:endParaRPr lang="en-US" sz="75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2606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79500" y="1962150"/>
            <a:ext cx="63500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4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VOLKSWAGEN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6985000" y="21336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25527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" y="29083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79500" y="2609850"/>
            <a:ext cx="63500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4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FORD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985000" y="27813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 2026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32004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600" y="35560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9500" y="3257550"/>
            <a:ext cx="63500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4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FMC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6985000" y="34290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 2026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9600" y="38481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9600" y="42037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9500" y="3905250"/>
            <a:ext cx="63500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4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BASF</a:t>
            </a:r>
            <a:endParaRPr lang="en-US" sz="4200" dirty="0"/>
          </a:p>
        </p:txBody>
      </p:sp>
      <p:sp>
        <p:nvSpPr>
          <p:cNvPr id="22" name="Text 20"/>
          <p:cNvSpPr txBox="1"/>
          <p:nvPr/>
        </p:nvSpPr>
        <p:spPr>
          <a:xfrm>
            <a:off x="6985000" y="40767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09600" y="44958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9600" y="48514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9500" y="4552950"/>
            <a:ext cx="63500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4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GRUNNER</a:t>
            </a:r>
            <a:endParaRPr lang="en-US" sz="4200" dirty="0"/>
          </a:p>
        </p:txBody>
      </p:sp>
      <p:sp>
        <p:nvSpPr>
          <p:cNvPr id="26" name="Text 24"/>
          <p:cNvSpPr txBox="1"/>
          <p:nvPr/>
        </p:nvSpPr>
        <p:spPr>
          <a:xfrm>
            <a:off x="6985000" y="47244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Agrishow 2026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09600" y="51435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9600" y="54991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79500" y="5200650"/>
            <a:ext cx="63500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4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CORTEVA</a:t>
            </a:r>
            <a:endParaRPr lang="en-US" sz="4200" dirty="0"/>
          </a:p>
        </p:txBody>
      </p:sp>
      <p:sp>
        <p:nvSpPr>
          <p:cNvPr id="30" name="Text 28"/>
          <p:cNvSpPr txBox="1"/>
          <p:nvPr/>
        </p:nvSpPr>
        <p:spPr>
          <a:xfrm>
            <a:off x="6985000" y="53721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GAFFFF 2025 · Enlist · Loyant · Prospera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09600" y="57912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9600" y="61468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79500" y="5848350"/>
            <a:ext cx="63500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42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SYNGENTA</a:t>
            </a:r>
            <a:endParaRPr lang="en-US" sz="4200" dirty="0"/>
          </a:p>
        </p:txBody>
      </p:sp>
      <p:sp>
        <p:nvSpPr>
          <p:cNvPr id="34" name="Text 32"/>
          <p:cNvSpPr txBox="1"/>
          <p:nvPr/>
        </p:nvSpPr>
        <p:spPr>
          <a:xfrm>
            <a:off x="6985000" y="60198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Encontro dos Conselhos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09600" y="64389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pic>
        <p:nvPicPr>
          <p:cNvPr id="36" name="Image 0" descr="/tmp/claude-0/-home-claude/8e1ee178-3aa5-5bd7-bb29-abd60da1bf1a/scratchpad/pptx/img/8b46382876a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0" y="1651000"/>
            <a:ext cx="2159000" cy="2698750"/>
          </a:xfrm>
          <a:prstGeom prst="rect">
            <a:avLst/>
          </a:prstGeom>
        </p:spPr>
      </p:pic>
      <p:pic>
        <p:nvPicPr>
          <p:cNvPr id="37" name="Image 1" descr="/tmp/claude-0/-home-claude/8e1ee178-3aa5-5bd7-bb29-abd60da1bf1a/scratchpad/pptx/img/f56fcf0e06a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850" y="3841750"/>
            <a:ext cx="1651000" cy="165100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40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42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  <p:pic>
        <p:nvPicPr>
          <p:cNvPr id="43" name="Image 4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905000"/>
            <a:ext cx="10972800" cy="647700"/>
          </a:xfrm>
          <a:prstGeom prst="rect">
            <a:avLst/>
          </a:prstGeom>
        </p:spPr>
      </p:pic>
      <p:pic>
        <p:nvPicPr>
          <p:cNvPr id="44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552700"/>
            <a:ext cx="10972800" cy="647700"/>
          </a:xfrm>
          <a:prstGeom prst="rect">
            <a:avLst/>
          </a:prstGeom>
        </p:spPr>
      </p:pic>
      <p:pic>
        <p:nvPicPr>
          <p:cNvPr id="45" name="Image 6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200400"/>
            <a:ext cx="10972800" cy="647700"/>
          </a:xfrm>
          <a:prstGeom prst="rect">
            <a:avLst/>
          </a:prstGeom>
        </p:spPr>
      </p:pic>
      <p:pic>
        <p:nvPicPr>
          <p:cNvPr id="46" name="Image 7" descr="Link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848100"/>
            <a:ext cx="10972800" cy="647700"/>
          </a:xfrm>
          <a:prstGeom prst="rect">
            <a:avLst/>
          </a:prstGeom>
        </p:spPr>
      </p:pic>
      <p:pic>
        <p:nvPicPr>
          <p:cNvPr id="47" name="Image 8" descr="Link">
            <a:hlinkClick r:id="rId18" tooltip="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495800"/>
            <a:ext cx="10972800" cy="647700"/>
          </a:xfrm>
          <a:prstGeom prst="rect">
            <a:avLst/>
          </a:prstGeom>
        </p:spPr>
      </p:pic>
      <p:pic>
        <p:nvPicPr>
          <p:cNvPr id="48" name="Image 9" descr="Link">
            <a:hlinkClick r:id="rId20" tooltip="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5143500"/>
            <a:ext cx="10972800" cy="647700"/>
          </a:xfrm>
          <a:prstGeom prst="rect">
            <a:avLst/>
          </a:prstGeom>
        </p:spPr>
      </p:pic>
      <p:pic>
        <p:nvPicPr>
          <p:cNvPr id="49" name="Image 10" descr="Link">
            <a:hlinkClick r:id="rId22" tooltip="" action="ppaction://hlinksldjump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791200"/>
            <a:ext cx="109728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2 CASES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VOLKSWAGEN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a5b45e0fb0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00" y="508000"/>
            <a:ext cx="571500" cy="571500"/>
          </a:xfrm>
          <a:prstGeom prst="rect">
            <a:avLst/>
          </a:prstGeom>
        </p:spPr>
      </p:pic>
      <p:pic>
        <p:nvPicPr>
          <p:cNvPr id="6" name="Image 2" descr="Circuito Agro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53721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53721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01 · FEIRA ITINERANTE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53721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Circuito Agro</a:t>
            </a:r>
            <a:endParaRPr lang="en-US" sz="2300" dirty="0"/>
          </a:p>
        </p:txBody>
      </p:sp>
      <p:pic>
        <p:nvPicPr>
          <p:cNvPr id="9" name="Image 3" descr="Volks Festival 2025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213100"/>
            <a:ext cx="5372100" cy="218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210300" y="5511800"/>
            <a:ext cx="53721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11 · FESTIVAL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6210300" y="5753100"/>
            <a:ext cx="53721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Volks Festival 2025</a:t>
            </a:r>
            <a:endParaRPr lang="en-US" sz="2300" dirty="0"/>
          </a:p>
        </p:txBody>
      </p:sp>
      <p:sp>
        <p:nvSpPr>
          <p:cNvPr id="12" name="Shape 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4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5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olkswagen · Circuito Ag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e25880c20a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1200" y="0"/>
            <a:ext cx="38608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01 · AGRO · FEIRA ITINERANTE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1282700"/>
            <a:ext cx="7302500" cy="201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0"/>
              </a:lnSpc>
              <a:buNone/>
            </a:pPr>
            <a:r>
              <a:rPr lang="en-US" sz="142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VOLKSWAGEN</a:t>
            </a:r>
            <a:endParaRPr lang="en-US" sz="14200" dirty="0"/>
          </a:p>
        </p:txBody>
      </p:sp>
      <p:sp>
        <p:nvSpPr>
          <p:cNvPr id="7" name="Text 2"/>
          <p:cNvSpPr txBox="1"/>
          <p:nvPr/>
        </p:nvSpPr>
        <p:spPr>
          <a:xfrm>
            <a:off x="609600" y="3429000"/>
            <a:ext cx="698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4826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09600" y="5118100"/>
            <a:ext cx="622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Levar a identidade Volkswagen ao agro com um estande que criasse conexão direta com o produtor.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8585200" y="6324600"/>
            <a:ext cx="33020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750300" y="6400800"/>
            <a:ext cx="12573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VOLKSWAGEN</a:t>
            </a:r>
            <a:endParaRPr lang="en-US" sz="900" dirty="0"/>
          </a:p>
        </p:txBody>
      </p:sp>
      <p:pic>
        <p:nvPicPr>
          <p:cNvPr id="12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6324600"/>
            <a:ext cx="1358900" cy="279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Volkswagen · Circuito Ag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Volkswagen · Circuito Ag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Volkswagen · Circuito Ag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Volkswagen · Circuito Agr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VOLKSWAGEN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estande que se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adapta</a:t>
            </a:r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a cada etapa.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Estrutura modular adaptável a cada etapa do circuito, com cenografia em madeira, paisagismo e áreas que valorizam os veículos.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Ambiente descontraído, com atendimento padrão Volkswagen.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585200" y="6324600"/>
            <a:ext cx="33020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750300" y="6400800"/>
            <a:ext cx="12573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VOLKSWAGEN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6324600"/>
            <a:ext cx="135890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FORD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2dfa56de6f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553528"/>
          </a:xfrm>
          <a:prstGeom prst="rect">
            <a:avLst/>
          </a:prstGeom>
        </p:spPr>
      </p:pic>
      <p:pic>
        <p:nvPicPr>
          <p:cNvPr id="6" name="Image 2" descr="Circuito Agro 2026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02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Circuito Agro 2026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Manter a força da Ford no circuito agro, o evento de melhor retorno para a marca, sob o conceito Built Ford Tough.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d · Circuito Agro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02 · AGRO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CIRCUITO AGRO 2026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FORD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 2026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Manter a força da Ford no circuito agro, o evento de melhor retorno para a marca, sob o conceito Built Ford Tough.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9175750" y="6324600"/>
            <a:ext cx="27114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340850" y="6400800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FORD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350" y="6324600"/>
            <a:ext cx="76835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Ford · Circuito Agro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5435600" cy="3556000"/>
          </a:xfrm>
          <a:prstGeom prst="rect">
            <a:avLst/>
          </a:prstGeom>
        </p:spPr>
      </p:pic>
      <p:pic>
        <p:nvPicPr>
          <p:cNvPr id="4" name="Image 1" descr="Ford · Circuito Agro 20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0"/>
            <a:ext cx="2616200" cy="3479800"/>
          </a:xfrm>
          <a:prstGeom prst="rect">
            <a:avLst/>
          </a:prstGeom>
        </p:spPr>
      </p:pic>
      <p:pic>
        <p:nvPicPr>
          <p:cNvPr id="5" name="Image 2" descr="Ford · Circuito Agro 202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632200"/>
            <a:ext cx="2679700" cy="3225800"/>
          </a:xfrm>
          <a:prstGeom prst="rect">
            <a:avLst/>
          </a:prstGeom>
        </p:spPr>
      </p:pic>
      <p:pic>
        <p:nvPicPr>
          <p:cNvPr id="6" name="Image 3" descr="Ford · Circuito Agro 2026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632200"/>
            <a:ext cx="2679700" cy="3225800"/>
          </a:xfrm>
          <a:prstGeom prst="rect">
            <a:avLst/>
          </a:prstGeom>
        </p:spPr>
      </p:pic>
      <p:pic>
        <p:nvPicPr>
          <p:cNvPr id="7" name="Image 4" descr="Ford · Circuito Agro 202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0" y="3556000"/>
            <a:ext cx="2616200" cy="3302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FORD · A SOLUÇÃO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Releitura de um projeto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vencedor.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Fachada em aço corten e visual moderno-rústico, integrado ao key visual da linha Raça Forte. Robusto, seguro e evoluído a cada temporada.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2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Parceria contínua de live marketing com a Ford no agro.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9175750" y="6324600"/>
            <a:ext cx="27114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340850" y="6400800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FORD</a:t>
            </a:r>
            <a:endParaRPr lang="en-US" sz="900" dirty="0"/>
          </a:p>
        </p:txBody>
      </p:sp>
      <p:pic>
        <p:nvPicPr>
          <p:cNvPr id="18" name="Image 5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7350" y="6324600"/>
            <a:ext cx="768350" cy="279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6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7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FMC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34ea8d2393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470728"/>
          </a:xfrm>
          <a:prstGeom prst="rect">
            <a:avLst/>
          </a:prstGeom>
        </p:spPr>
      </p:pic>
      <p:pic>
        <p:nvPicPr>
          <p:cNvPr id="6" name="Image 2" descr="Circuito Agro 2026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03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Circuito Agro 2026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Reforçar a FMC como referência em tecnologia agrícola e fortalecer a parceria com o produtor rural.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MC · Circuito Agro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e25880c20a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1200" y="0"/>
            <a:ext cx="38608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03 · AGRO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742950"/>
            <a:ext cx="73025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0"/>
              </a:lnSpc>
              <a:buNone/>
            </a:pPr>
            <a:r>
              <a:rPr lang="en-US" sz="18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FMC</a:t>
            </a:r>
            <a:endParaRPr lang="en-US" sz="18000" dirty="0"/>
          </a:p>
        </p:txBody>
      </p:sp>
      <p:sp>
        <p:nvSpPr>
          <p:cNvPr id="7" name="Text 2"/>
          <p:cNvSpPr txBox="1"/>
          <p:nvPr/>
        </p:nvSpPr>
        <p:spPr>
          <a:xfrm>
            <a:off x="609600" y="3429000"/>
            <a:ext cx="698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 2026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4826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09600" y="5118100"/>
            <a:ext cx="622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Reforçar a FMC como referência em tecnologia agrícola e fortalecer a parceria com o produtor rural.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9277350" y="6324600"/>
            <a:ext cx="26098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442450" y="6400800"/>
            <a:ext cx="5651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FMC</a:t>
            </a:r>
            <a:endParaRPr lang="en-US" sz="900" dirty="0"/>
          </a:p>
        </p:txBody>
      </p:sp>
      <p:pic>
        <p:nvPicPr>
          <p:cNvPr id="12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8950" y="6324600"/>
            <a:ext cx="666750" cy="279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FMC · Circuito Agro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5435600" cy="3556000"/>
          </a:xfrm>
          <a:prstGeom prst="rect">
            <a:avLst/>
          </a:prstGeom>
        </p:spPr>
      </p:pic>
      <p:pic>
        <p:nvPicPr>
          <p:cNvPr id="4" name="Image 1" descr="FMC · Circuito Agro 20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0"/>
            <a:ext cx="2616200" cy="3479800"/>
          </a:xfrm>
          <a:prstGeom prst="rect">
            <a:avLst/>
          </a:prstGeom>
        </p:spPr>
      </p:pic>
      <p:pic>
        <p:nvPicPr>
          <p:cNvPr id="5" name="Image 2" descr="FMC · Circuito Agro 202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632200"/>
            <a:ext cx="2679700" cy="3225800"/>
          </a:xfrm>
          <a:prstGeom prst="rect">
            <a:avLst/>
          </a:prstGeom>
        </p:spPr>
      </p:pic>
      <p:pic>
        <p:nvPicPr>
          <p:cNvPr id="6" name="Image 3" descr="FMC · Circuito Agro 2026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632200"/>
            <a:ext cx="2679700" cy="3225800"/>
          </a:xfrm>
          <a:prstGeom prst="rect">
            <a:avLst/>
          </a:prstGeom>
        </p:spPr>
      </p:pic>
      <p:pic>
        <p:nvPicPr>
          <p:cNvPr id="7" name="Image 4" descr="FMC · Circuito Agro 202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0" y="3556000"/>
            <a:ext cx="2616200" cy="3302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FMC · A SOLUÇÃO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Pé no chão,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presença de marca.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 modulável e de personalidade marcante desde 2025, com comunicação de alta exposição, acessibilidade e ambientes acolhedores.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2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Stap segue com a FMC no Circuito Agro 2026.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9277350" y="6324600"/>
            <a:ext cx="26098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442450" y="6400800"/>
            <a:ext cx="5651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FMC</a:t>
            </a:r>
            <a:endParaRPr lang="en-US" sz="900" dirty="0"/>
          </a:p>
        </p:txBody>
      </p:sp>
      <p:pic>
        <p:nvPicPr>
          <p:cNvPr id="18" name="Image 5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8950" y="6324600"/>
            <a:ext cx="666750" cy="279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6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7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BASF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58f14bd90e6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542365"/>
          </a:xfrm>
          <a:prstGeom prst="rect">
            <a:avLst/>
          </a:prstGeom>
        </p:spPr>
      </p:pic>
      <p:pic>
        <p:nvPicPr>
          <p:cNvPr id="6" name="Image 2" descr="Circuito Agro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04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Circuito Agro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Fortalecer a presença no agro, gerar relacionamento com produtores e apresentar o portfólio completo.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BASF · Circuito Ag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04 · AGRO · FEIRA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BASF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Circuito Agro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Fortalecer a presença no agro, gerar relacionamento com produtores e apresentar o portfólio completo.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9175750" y="6324600"/>
            <a:ext cx="27114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340850" y="6400800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BASF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350" y="6324600"/>
            <a:ext cx="76835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BASF · Circuito Ag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445000"/>
          </a:xfrm>
          <a:prstGeom prst="rect">
            <a:avLst/>
          </a:prstGeom>
        </p:spPr>
      </p:pic>
      <p:pic>
        <p:nvPicPr>
          <p:cNvPr id="4" name="Image 1" descr="BASF · Circuito Ag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521200"/>
            <a:ext cx="4025900" cy="2336800"/>
          </a:xfrm>
          <a:prstGeom prst="rect">
            <a:avLst/>
          </a:prstGeom>
        </p:spPr>
      </p:pic>
      <p:pic>
        <p:nvPicPr>
          <p:cNvPr id="5" name="Image 2" descr="BASF · Circuito Ag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4521200"/>
            <a:ext cx="4025900" cy="233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BASF · A SOLUÇÃO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portfólio inteiro,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em campo.</a:t>
            </a:r>
            <a:endParaRPr lang="en-US" sz="36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Projeto de estande e cenografia, produção executiva com fornecedores locais, ativações, curadoria de conteúdo e operação do espaço.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Uma ilha de conteúdo interativa apresentou as soluções para o campo.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175750" y="6324600"/>
            <a:ext cx="27114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340850" y="6400800"/>
            <a:ext cx="6667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BASF</a:t>
            </a:r>
            <a:endParaRPr lang="en-US" sz="900" dirty="0"/>
          </a:p>
        </p:txBody>
      </p:sp>
      <p:pic>
        <p:nvPicPr>
          <p:cNvPr id="16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350" y="6324600"/>
            <a:ext cx="768350" cy="279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8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0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GRUNNER</a:t>
            </a:r>
            <a:endParaRPr lang="en-US" sz="15000" dirty="0"/>
          </a:p>
        </p:txBody>
      </p:sp>
      <p:pic>
        <p:nvPicPr>
          <p:cNvPr id="5" name="Image 1" descr="Agrishow 2026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05 · FEIRA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Agrishow 2026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Fazer o visitante sentir-se em casa e traduzir o pioneirismo, a robustez e a tecnologia da marca.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3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5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unner · Agrishow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e25880c20a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1200" y="0"/>
            <a:ext cx="38608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05 · AGRO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742950"/>
            <a:ext cx="73025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0"/>
              </a:lnSpc>
              <a:buNone/>
            </a:pPr>
            <a:r>
              <a:rPr lang="en-US" sz="18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GRUNNER</a:t>
            </a:r>
            <a:endParaRPr lang="en-US" sz="18000" dirty="0"/>
          </a:p>
        </p:txBody>
      </p:sp>
      <p:sp>
        <p:nvSpPr>
          <p:cNvPr id="7" name="Text 2"/>
          <p:cNvSpPr txBox="1"/>
          <p:nvPr/>
        </p:nvSpPr>
        <p:spPr>
          <a:xfrm>
            <a:off x="609600" y="3429000"/>
            <a:ext cx="698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Agrishow 2026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4826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09600" y="5118100"/>
            <a:ext cx="622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Fazer o visitante sentir-se em casa e traduzir o pioneirismo, a robustez e a tecnologia da marca.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GRUNNER</a:t>
            </a:r>
            <a:endParaRPr lang="en-US" sz="900" dirty="0"/>
          </a:p>
        </p:txBody>
      </p:sp>
      <p:pic>
        <p:nvPicPr>
          <p:cNvPr id="12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Grunner · Agrishow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445000"/>
          </a:xfrm>
          <a:prstGeom prst="rect">
            <a:avLst/>
          </a:prstGeom>
        </p:spPr>
      </p:pic>
      <p:pic>
        <p:nvPicPr>
          <p:cNvPr id="4" name="Image 1" descr="Grunner · Agrishow 20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521200"/>
            <a:ext cx="4025900" cy="2336800"/>
          </a:xfrm>
          <a:prstGeom prst="rect">
            <a:avLst/>
          </a:prstGeom>
        </p:spPr>
      </p:pic>
      <p:pic>
        <p:nvPicPr>
          <p:cNvPr id="5" name="Image 2" descr="Grunner · Agrishow 202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4521200"/>
            <a:ext cx="4025900" cy="233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GRUNNER · A SOLUÇÃO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Para se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sentir em casa</a:t>
            </a:r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na Agrishow.</a:t>
            </a:r>
            <a:endParaRPr lang="en-US" sz="36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 moderno e arrojado, funcional para relacionamento e negócios, com comunicação visual de impacto e a boutique Grunner.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espaço de convivência no meio da maior feira do agro.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GRUNNER</a:t>
            </a:r>
            <a:endParaRPr lang="en-US" sz="900" dirty="0"/>
          </a:p>
        </p:txBody>
      </p:sp>
      <p:pic>
        <p:nvPicPr>
          <p:cNvPr id="16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8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0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4 CASES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CORTEVA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b714e542fc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316966"/>
          </a:xfrm>
          <a:prstGeom prst="rect">
            <a:avLst/>
          </a:prstGeom>
        </p:spPr>
      </p:pic>
      <p:pic>
        <p:nvPicPr>
          <p:cNvPr id="6" name="Image 2" descr="GAFFFF 2025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2571750" cy="159448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4921885"/>
            <a:ext cx="257175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06 · FEIRA E EVENTO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163185"/>
            <a:ext cx="2571750" cy="554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GAFFFF 2025</a:t>
            </a:r>
            <a:endParaRPr lang="en-US" sz="1900" dirty="0"/>
          </a:p>
        </p:txBody>
      </p:sp>
      <p:pic>
        <p:nvPicPr>
          <p:cNvPr id="9" name="Image 3" descr="Enlist · Lançamento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950" y="3213100"/>
            <a:ext cx="2571750" cy="159448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409950" y="4921885"/>
            <a:ext cx="257175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07 · FEIRAS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3409950" y="5163185"/>
            <a:ext cx="2571750" cy="554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Enlist · Lançamento</a:t>
            </a:r>
            <a:endParaRPr lang="en-US" sz="1900" dirty="0"/>
          </a:p>
        </p:txBody>
      </p:sp>
      <p:pic>
        <p:nvPicPr>
          <p:cNvPr id="12" name="Image 4" descr="Lançamento Loyant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3213100"/>
            <a:ext cx="2571750" cy="159448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210300" y="4921885"/>
            <a:ext cx="257175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08 · EVENTO</a:t>
            </a:r>
            <a:endParaRPr lang="en-US" sz="1100" dirty="0"/>
          </a:p>
        </p:txBody>
      </p:sp>
      <p:sp>
        <p:nvSpPr>
          <p:cNvPr id="14" name="Text 7"/>
          <p:cNvSpPr txBox="1"/>
          <p:nvPr/>
        </p:nvSpPr>
        <p:spPr>
          <a:xfrm>
            <a:off x="6210300" y="5163185"/>
            <a:ext cx="2571750" cy="554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Lançamento Loyant</a:t>
            </a:r>
            <a:endParaRPr lang="en-US" sz="1900" dirty="0"/>
          </a:p>
        </p:txBody>
      </p:sp>
      <p:pic>
        <p:nvPicPr>
          <p:cNvPr id="15" name="Image 5" descr="Prospera · Programa de TV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0650" y="3213100"/>
            <a:ext cx="2571750" cy="159448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9010650" y="4921885"/>
            <a:ext cx="257175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09 · CONTEÚDO</a:t>
            </a:r>
            <a:endParaRPr lang="en-US" sz="1100" dirty="0"/>
          </a:p>
        </p:txBody>
      </p:sp>
      <p:sp>
        <p:nvSpPr>
          <p:cNvPr id="17" name="Text 9"/>
          <p:cNvSpPr txBox="1"/>
          <p:nvPr/>
        </p:nvSpPr>
        <p:spPr>
          <a:xfrm>
            <a:off x="9010650" y="5163185"/>
            <a:ext cx="2571750" cy="554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9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Prospera · Programa de TV</a:t>
            </a:r>
            <a:endParaRPr lang="en-US" sz="1900" dirty="0"/>
          </a:p>
        </p:txBody>
      </p:sp>
      <p:sp>
        <p:nvSpPr>
          <p:cNvPr id="18" name="Shape 10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6" descr="Link">
            <a:hlinkClick r:id="rId17" tooltip="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7" descr="Link">
            <a:hlinkClick r:id="rId20" tooltip="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rteva · GAFFFF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06 · AGRO · FEIRA E EVENTO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GAFFFF 2025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CORTEVA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GAFFFF 2025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Transformar o patrocínio principal do Global Agribusiness Festival, no Allianz Parque, numa experiência única.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Corteva · GAFFFF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Corteva · GAFFFF 20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Corteva · GAFFFF 202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Corteva · GAFFFF 202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CORTEVA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estande na escala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 arena.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 temático nas proporções da arena, com espaços de relacionamento e negócios e um mezanino exclusivo para convidados.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Projeto, produção e operação numa solução completa.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orteva · Enlist · Lanç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07 · AGRO · FEIRAS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CORTEVA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Enlist · Lançamento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Lançar uma nova marca de tecnologia no agro com presença relevante e reconhecimento imediato nas feiras.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Corteva · Enlist · Lança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445000"/>
          </a:xfrm>
          <a:prstGeom prst="rect">
            <a:avLst/>
          </a:prstGeom>
        </p:spPr>
      </p:pic>
      <p:pic>
        <p:nvPicPr>
          <p:cNvPr id="4" name="Image 1" descr="Corteva · Enlist · Lanç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521200"/>
            <a:ext cx="4025900" cy="2336800"/>
          </a:xfrm>
          <a:prstGeom prst="rect">
            <a:avLst/>
          </a:prstGeom>
        </p:spPr>
      </p:pic>
      <p:pic>
        <p:nvPicPr>
          <p:cNvPr id="5" name="Image 2" descr="Corteva · Enlist · Lançamen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4521200"/>
            <a:ext cx="4025900" cy="233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CORTEVA · A SOLUÇÃO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projeto,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três feiras.</a:t>
            </a:r>
            <a:endParaRPr lang="en-US" sz="36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Cenografia modular e inflável, de montagem ágil, levada ao Show Rural Coopavel, à Tecnoshow e à Expodireto Cotrijal.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Integrado à área de plantio, com conteúdo e captação de leads.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6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8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0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rteva · Lançamento Loy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08 · AGRO · EVENTO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LANÇAMENTO LOYANT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CORTEVA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Lançamento Loyant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Lançar um novo herbicida para o arroz e surpreender um público técnico com uma experiência marcante.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Corteva · Lançamento Loy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Corteva · Lançamento Loy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Corteva · Lançamento Loya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Corteva · Lançamento Loya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CORTEVA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lançamento para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surpreender</a:t>
            </a:r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quem é técnico.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Palco com tela imersiva na casa NTX, em Porto Alegre, comunicação no pré-evento e show de encerramento com Fernando &amp; Sorocaba.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Cenografia e plateia em formato inovador.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orteva · Prospera · Programa de T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09 · AGRO · CONTEÚDO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CORTEVA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Prospera · Programa de TV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Registrar em um especial de TV os resultados do programa Prospera em comunidades rurais de Pernambuco.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Corteva · Prospera · Programa de T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Corteva · Prospera · Programa de T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Corteva · Prospera · Programa de T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Corteva · Prospera · Programa de TV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CORTEVA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campo contado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na TV.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Produção completa: roteiro, direção, filmagens em campo, entrevistas com beneficiários e lideranças, logística e identidade visual.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Participações da Ministra da Agricultura e de executivos de Corteva, Yara e AGCO.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CORTEVA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SYNGENTA</a:t>
            </a:r>
            <a:endParaRPr lang="en-US" sz="15000" dirty="0"/>
          </a:p>
        </p:txBody>
      </p:sp>
      <p:pic>
        <p:nvPicPr>
          <p:cNvPr id="5" name="Image 1" descr="Encontro dos Conselhos Técnicos 2025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10 · EVENTO CORPORATIVO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Encontro dos Conselhos Técnicos 2025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Reunir pela primeira vez os três conselhos técnicos da Syngenta e celebrar seus 25 anos, em Campinas.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3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5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yngenta · Encontro dos Conselhos Técnicos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e25880c20a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1200" y="0"/>
            <a:ext cx="38608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10 · AGRO · EVENTO CORPORATIVO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742950"/>
            <a:ext cx="73025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0"/>
              </a:lnSpc>
              <a:buNone/>
            </a:pPr>
            <a:r>
              <a:rPr lang="en-US" sz="18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SYNGENTA</a:t>
            </a:r>
            <a:endParaRPr lang="en-US" sz="18000" dirty="0"/>
          </a:p>
        </p:txBody>
      </p:sp>
      <p:sp>
        <p:nvSpPr>
          <p:cNvPr id="7" name="Text 2"/>
          <p:cNvSpPr txBox="1"/>
          <p:nvPr/>
        </p:nvSpPr>
        <p:spPr>
          <a:xfrm>
            <a:off x="609600" y="3429000"/>
            <a:ext cx="698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Encontro dos Conselhos Técnicos 2025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4826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09600" y="5118100"/>
            <a:ext cx="622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Reunir pela primeira vez os três conselhos técnicos da Syngenta e celebrar seus 25 anos, em Campinas.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8782050" y="6324600"/>
            <a:ext cx="31051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947150" y="6400800"/>
            <a:ext cx="10604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SYNGENTA</a:t>
            </a:r>
            <a:endParaRPr lang="en-US" sz="900" dirty="0"/>
          </a:p>
        </p:txBody>
      </p:sp>
      <p:pic>
        <p:nvPicPr>
          <p:cNvPr id="12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3650" y="6324600"/>
            <a:ext cx="1162050" cy="279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Syngenta · Encontro dos Conselhos Técnicos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Syngenta · Encontro dos Conselhos Técnicos 20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Syngenta · Encontro dos Conselhos Técnicos 202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Syngenta · Encontro dos Conselhos Técnicos 202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SYNGENTA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25 anos,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três conselhos,</a:t>
            </a:r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um encontro.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Projeto, criação e operação de ponta a ponta no Royal Palm Plaza: palco, luz e conteúdo para os parceiros dos três conselhos.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Consherb, Consent e Consfit reunidos num evento único.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782050" y="6324600"/>
            <a:ext cx="31051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947150" y="6400800"/>
            <a:ext cx="10604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SYNGENTA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3650" y="6324600"/>
            <a:ext cx="116205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064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(07)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 Projetos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260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Território 02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424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Todos os cases 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4200" y="762000"/>
            <a:ext cx="8890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Automotivo</a:t>
            </a:r>
            <a:endParaRPr lang="en-US" sz="75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5209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79500" y="194945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VOLKSWAGEN</a:t>
            </a:r>
            <a:endParaRPr lang="en-US" sz="6250" dirty="0"/>
          </a:p>
        </p:txBody>
      </p:sp>
      <p:sp>
        <p:nvSpPr>
          <p:cNvPr id="10" name="Text 8"/>
          <p:cNvSpPr txBox="1"/>
          <p:nvPr/>
        </p:nvSpPr>
        <p:spPr>
          <a:xfrm>
            <a:off x="6985000" y="23939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Volks Festival 2025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28130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" y="34290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79500" y="285750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TOYOTA</a:t>
            </a:r>
            <a:endParaRPr lang="en-US" sz="6250" dirty="0"/>
          </a:p>
        </p:txBody>
      </p:sp>
      <p:sp>
        <p:nvSpPr>
          <p:cNvPr id="14" name="Text 12"/>
          <p:cNvSpPr txBox="1"/>
          <p:nvPr/>
        </p:nvSpPr>
        <p:spPr>
          <a:xfrm>
            <a:off x="6985000" y="33020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Gazoo Racing · Hilux · Japão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37211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600" y="43370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9500" y="376555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DUCATI</a:t>
            </a:r>
            <a:endParaRPr lang="en-US" sz="6250" dirty="0"/>
          </a:p>
        </p:txBody>
      </p:sp>
      <p:sp>
        <p:nvSpPr>
          <p:cNvPr id="18" name="Text 16"/>
          <p:cNvSpPr txBox="1"/>
          <p:nvPr/>
        </p:nvSpPr>
        <p:spPr>
          <a:xfrm>
            <a:off x="6985000" y="42100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Salão Duas Rodas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9600" y="46291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9600" y="52451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9500" y="467360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HARLEY-DAVIDSON</a:t>
            </a:r>
            <a:endParaRPr lang="en-US" sz="6250" dirty="0"/>
          </a:p>
        </p:txBody>
      </p:sp>
      <p:sp>
        <p:nvSpPr>
          <p:cNvPr id="22" name="Text 20"/>
          <p:cNvSpPr txBox="1"/>
          <p:nvPr/>
        </p:nvSpPr>
        <p:spPr>
          <a:xfrm>
            <a:off x="6985000" y="51181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Lucky Friends Rodeo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09600" y="55372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9600" y="61531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9500" y="558165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PETRONAS</a:t>
            </a:r>
            <a:endParaRPr lang="en-US" sz="6250" dirty="0"/>
          </a:p>
        </p:txBody>
      </p:sp>
      <p:sp>
        <p:nvSpPr>
          <p:cNvPr id="26" name="Text 24"/>
          <p:cNvSpPr txBox="1"/>
          <p:nvPr/>
        </p:nvSpPr>
        <p:spPr>
          <a:xfrm>
            <a:off x="6985000" y="60261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Fórmula 1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09600" y="64452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pic>
        <p:nvPicPr>
          <p:cNvPr id="28" name="Image 0" descr="/tmp/claude-0/-home-claude/8e1ee178-3aa5-5bd7-bb29-abd60da1bf1a/scratchpad/pptx/img/a675c4c456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0" y="1651000"/>
            <a:ext cx="2159000" cy="2698750"/>
          </a:xfrm>
          <a:prstGeom prst="rect">
            <a:avLst/>
          </a:prstGeom>
        </p:spPr>
      </p:pic>
      <p:pic>
        <p:nvPicPr>
          <p:cNvPr id="29" name="Image 1" descr="/tmp/claude-0/-home-claude/8e1ee178-3aa5-5bd7-bb29-abd60da1bf1a/scratchpad/pptx/img/fea6d06c179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3841750"/>
            <a:ext cx="1651000" cy="16510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32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34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  <p:pic>
        <p:nvPicPr>
          <p:cNvPr id="35" name="Image 4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905000"/>
            <a:ext cx="10972800" cy="908050"/>
          </a:xfrm>
          <a:prstGeom prst="rect">
            <a:avLst/>
          </a:prstGeom>
        </p:spPr>
      </p:pic>
      <p:pic>
        <p:nvPicPr>
          <p:cNvPr id="36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813050"/>
            <a:ext cx="10972800" cy="908050"/>
          </a:xfrm>
          <a:prstGeom prst="rect">
            <a:avLst/>
          </a:prstGeom>
        </p:spPr>
      </p:pic>
      <p:pic>
        <p:nvPicPr>
          <p:cNvPr id="37" name="Image 6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721100"/>
            <a:ext cx="10972800" cy="908050"/>
          </a:xfrm>
          <a:prstGeom prst="rect">
            <a:avLst/>
          </a:prstGeom>
        </p:spPr>
      </p:pic>
      <p:pic>
        <p:nvPicPr>
          <p:cNvPr id="38" name="Image 7" descr="Link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629150"/>
            <a:ext cx="10972800" cy="908050"/>
          </a:xfrm>
          <a:prstGeom prst="rect">
            <a:avLst/>
          </a:prstGeom>
        </p:spPr>
      </p:pic>
      <p:pic>
        <p:nvPicPr>
          <p:cNvPr id="39" name="Image 8" descr="Link">
            <a:hlinkClick r:id="rId18" tooltip="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5537200"/>
            <a:ext cx="10972800" cy="9080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0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1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11 · AUTO · FESTIVAL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VOLKS FESTIVAL 2025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117850"/>
            <a:ext cx="7302500" cy="221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70"/>
              </a:lnSpc>
              <a:buNone/>
            </a:pPr>
            <a:r>
              <a:rPr lang="en-US" sz="156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VOLKSWAGEN</a:t>
            </a:r>
            <a:endParaRPr lang="en-US" sz="156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Volks Festival 2025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Promover o maior festival de vendas do Brasil e, ao mesmo tempo, um dia de experiências para toda a família.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585200" y="6324600"/>
            <a:ext cx="33020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750300" y="6400800"/>
            <a:ext cx="12573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VOLKSWAGEN</a:t>
            </a:r>
            <a:endParaRPr lang="en-US" sz="900" dirty="0"/>
          </a:p>
        </p:txBody>
      </p:sp>
      <p:pic>
        <p:nvPicPr>
          <p:cNvPr id="13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6324600"/>
            <a:ext cx="135890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4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Volkswagen · Volks Festival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5435600" cy="3556000"/>
          </a:xfrm>
          <a:prstGeom prst="rect">
            <a:avLst/>
          </a:prstGeom>
        </p:spPr>
      </p:pic>
      <p:pic>
        <p:nvPicPr>
          <p:cNvPr id="4" name="Image 1" descr="Volkswagen · Volks Festival 20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0"/>
            <a:ext cx="2616200" cy="3479800"/>
          </a:xfrm>
          <a:prstGeom prst="rect">
            <a:avLst/>
          </a:prstGeom>
        </p:spPr>
      </p:pic>
      <p:pic>
        <p:nvPicPr>
          <p:cNvPr id="5" name="Image 2" descr="Volkswagen · Volks Festival 202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632200"/>
            <a:ext cx="2679700" cy="3225800"/>
          </a:xfrm>
          <a:prstGeom prst="rect">
            <a:avLst/>
          </a:prstGeom>
        </p:spPr>
      </p:pic>
      <p:pic>
        <p:nvPicPr>
          <p:cNvPr id="6" name="Image 3" descr="Volkswagen · Volks Festival 202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632200"/>
            <a:ext cx="2679700" cy="3225800"/>
          </a:xfrm>
          <a:prstGeom prst="rect">
            <a:avLst/>
          </a:prstGeom>
        </p:spPr>
      </p:pic>
      <p:pic>
        <p:nvPicPr>
          <p:cNvPr id="7" name="Image 4" descr="Volkswagen · Volks Festival 202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0" y="3556000"/>
            <a:ext cx="2616200" cy="3302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VOLKSWAGEN · A SOLUÇÃO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Seis capitais,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uma temporada.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produção e operação completa, com o Best Drive, de São Paulo a Salvador, Brasília, Goiânia, Porto Alegre e Curitiba.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2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Logística, montagem, receptivo e apoio aos concessionários.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8585200" y="6324600"/>
            <a:ext cx="33020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8750300" y="6400800"/>
            <a:ext cx="12573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VOLKSWAGEN</a:t>
            </a:r>
            <a:endParaRPr lang="en-US" sz="900" dirty="0"/>
          </a:p>
        </p:txBody>
      </p:sp>
      <p:pic>
        <p:nvPicPr>
          <p:cNvPr id="18" name="Image 5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0" y="6324600"/>
            <a:ext cx="1358900" cy="279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6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7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3 CASES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TOYOTA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0d9ef9f6a5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286564"/>
          </a:xfrm>
          <a:prstGeom prst="rect">
            <a:avLst/>
          </a:prstGeom>
        </p:spPr>
      </p:pic>
      <p:pic>
        <p:nvPicPr>
          <p:cNvPr id="6" name="Image 2" descr="Gazoo Racing Day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3505200" cy="217322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00624"/>
            <a:ext cx="35052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12 · EVENTO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41924"/>
            <a:ext cx="35052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Gazoo Racing Day</a:t>
            </a:r>
            <a:endParaRPr lang="en-US" sz="2300" dirty="0"/>
          </a:p>
        </p:txBody>
      </p:sp>
      <p:pic>
        <p:nvPicPr>
          <p:cNvPr id="9" name="Image 3" descr="Hilux Expedition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3213100"/>
            <a:ext cx="3505200" cy="217322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343400" y="5500624"/>
            <a:ext cx="35052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13 · RALLY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4343400" y="5741924"/>
            <a:ext cx="35052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Hilux Expedition</a:t>
            </a:r>
            <a:endParaRPr lang="en-US" sz="2300" dirty="0"/>
          </a:p>
        </p:txBody>
      </p:sp>
      <p:pic>
        <p:nvPicPr>
          <p:cNvPr id="12" name="Image 4" descr="Festival do Japão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3213100"/>
            <a:ext cx="3505200" cy="217322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077200" y="5500624"/>
            <a:ext cx="35052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14 · FEIRA</a:t>
            </a:r>
            <a:endParaRPr lang="en-US" sz="1100" dirty="0"/>
          </a:p>
        </p:txBody>
      </p:sp>
      <p:sp>
        <p:nvSpPr>
          <p:cNvPr id="14" name="Text 7"/>
          <p:cNvSpPr txBox="1"/>
          <p:nvPr/>
        </p:nvSpPr>
        <p:spPr>
          <a:xfrm>
            <a:off x="8077200" y="5741924"/>
            <a:ext cx="35052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Festival do Japão</a:t>
            </a:r>
            <a:endParaRPr lang="en-US" sz="2300" dirty="0"/>
          </a:p>
        </p:txBody>
      </p:sp>
      <p:sp>
        <p:nvSpPr>
          <p:cNvPr id="15" name="Shape 8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7" name="Image 5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9" name="Image 6" descr="Link">
            <a:hlinkClick r:id="rId17" tooltip="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Toyota · Gazoo Racing D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12 · AUTO · EVENTO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TOYOTA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Gazoo Racing Day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Transformar a plataforma global de automobilismo da Toyota em relacionamento, visibilidade e conteúdo.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TOYOTA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Toyota · Gazoo Racing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Toyota · Gazoo Racing D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Toyota · Gazoo Racing D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Toyota · Gazoo Racing D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TOYOTA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Automobilismo virando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relacionamento.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Estrutura completa nos autódromos: logística de veículos, montagem, fluxos, fornecedores e operação técnica, com test-drives e pilotos.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Inclui a edição GR Day Woman, focada no protagonismo feminino.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TOYOTA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yota · Hilux Expedi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13 · AUTO · RALLY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HILUX EXPEDITION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TOYOTA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Hilux Expedition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Reforçar a Hilux como veículo robusto e confiável com um rally de regularidade em mercados importantes.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TOYOTA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Toyota · Hilux Expedi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Toyota · Hilux Exped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Toyota · Hilux Expedi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Toyota · Hilux Expedi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TOYOTA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Robustez provada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percurso.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Gestão de toda a operação: calendário, roteiros, regulamento, inscrições, licenças, concessionárias, logística e fornecedores.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 plantio de árvores ao longo do percurso.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TOYOTA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Toyota · Festival do Jap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14 · AUTO · FEIRA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TOYOTA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Festival do Japão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Homenagear os 110 anos da imigração japonesa no Brasil e destacar os lançamentos da Toyota.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TOYOTA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Toyota · Festival do Jap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Toyota · Festival do Jap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Toyota · Festival do Jap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Toyota · Festival do Jap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TOYOTA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Tradição e inovação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mesmo estande.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Arquitetura japonesa do início do século 20 e barquinhos de papel no teto, em releitura das lanternas do festival Obon.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Apresentações culturais e oficinas de origami no showroom.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TOYOTA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DUCATI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d86a45437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7186" y="508000"/>
            <a:ext cx="535214" cy="571500"/>
          </a:xfrm>
          <a:prstGeom prst="rect">
            <a:avLst/>
          </a:prstGeom>
        </p:spPr>
      </p:pic>
      <p:pic>
        <p:nvPicPr>
          <p:cNvPr id="6" name="Image 2" descr="Salão Duas Rodas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15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Salão Duas Rodas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No maior evento do setor na América Latina, expor a linha completa, lançar dois modelos e receber a imprensa.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ucati · Salão Duas Ro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15 · AUTO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SALÃO DUAS RODAS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DUCATI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Salão Duas Rodas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No maior evento do setor na América Latina, expor a linha completa, lançar dois modelos e receber a imprensa.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DUCATI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Ducati · Salão Duas Ro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5435600" cy="3556000"/>
          </a:xfrm>
          <a:prstGeom prst="rect">
            <a:avLst/>
          </a:prstGeom>
        </p:spPr>
      </p:pic>
      <p:pic>
        <p:nvPicPr>
          <p:cNvPr id="4" name="Image 1" descr="Ducati · Salão Duas Ro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0"/>
            <a:ext cx="2616200" cy="3479800"/>
          </a:xfrm>
          <a:prstGeom prst="rect">
            <a:avLst/>
          </a:prstGeom>
        </p:spPr>
      </p:pic>
      <p:pic>
        <p:nvPicPr>
          <p:cNvPr id="5" name="Image 2" descr="Ducati · Salão Duas Rod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632200"/>
            <a:ext cx="2679700" cy="3225800"/>
          </a:xfrm>
          <a:prstGeom prst="rect">
            <a:avLst/>
          </a:prstGeom>
        </p:spPr>
      </p:pic>
      <p:pic>
        <p:nvPicPr>
          <p:cNvPr id="6" name="Image 3" descr="Ducati · Salão Duas Rod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632200"/>
            <a:ext cx="2679700" cy="3225800"/>
          </a:xfrm>
          <a:prstGeom prst="rect">
            <a:avLst/>
          </a:prstGeom>
        </p:spPr>
      </p:pic>
      <p:pic>
        <p:nvPicPr>
          <p:cNvPr id="7" name="Image 4" descr="Ducati · Salão Duas Rod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0" y="3556000"/>
            <a:ext cx="2616200" cy="3302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DUCATI · A SOLUÇÃO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Três mundos,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dois lançamentos.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 em três mundos, vermelho, amarelo e preto, com avant-première, coletiva, atrações musicais e ativações para os Ducatistas.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2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Concepção e execução completas pela Stap.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DUCATI</a:t>
            </a:r>
            <a:endParaRPr lang="en-US" sz="900" dirty="0"/>
          </a:p>
        </p:txBody>
      </p:sp>
      <p:pic>
        <p:nvPicPr>
          <p:cNvPr id="18" name="Image 5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6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7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HARLEY-DAVIDSON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f0ded7c5ff4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479" y="508000"/>
            <a:ext cx="731921" cy="571500"/>
          </a:xfrm>
          <a:prstGeom prst="rect">
            <a:avLst/>
          </a:prstGeom>
        </p:spPr>
      </p:pic>
      <p:pic>
        <p:nvPicPr>
          <p:cNvPr id="6" name="Image 2" descr="Lucky Friends Rodeo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16 · EVENTO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Lucky Friends Rodeo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Celebrar o espírito Harley num dos principais eventos da cultura Kustom do país, além da exposição de produtos.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arley-Davidson · Lucky Friends Ro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16 · AUTO · EVENTO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HARLEY-DAVIDSON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Lucky Friends Rodeo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Celebrar o espírito Harley num dos principais eventos da cultura Kustom do país, além da exposição de produtos.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096250" y="6324600"/>
            <a:ext cx="37909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261350" y="6400800"/>
            <a:ext cx="17462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HARLEY-DAVIDSON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850" y="6324600"/>
            <a:ext cx="184785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Harley-Davidson · Lucky Friends Rode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Harley-Davidson · Lucky Friends Ro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Harley-Davidson · Lucky Friends Rode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Harley-Davidson · Lucky Friends Rode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HARLEY-DAVIDSON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espírito Harley,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vivido.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Planejamento e operação do espaço, com loja conceito, ambientação temática e cenografia pensada para o fluxo e a interação.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Performance, lifestyle e relacionamento com a comunidade.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096250" y="6324600"/>
            <a:ext cx="37909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261350" y="6400800"/>
            <a:ext cx="17462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HARLEY-DAVIDSON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850" y="6324600"/>
            <a:ext cx="184785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PETRONAS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4e112a0219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556327"/>
          </a:xfrm>
          <a:prstGeom prst="rect">
            <a:avLst/>
          </a:prstGeom>
        </p:spPr>
      </p:pic>
      <p:pic>
        <p:nvPicPr>
          <p:cNvPr id="6" name="Image 2" descr="Fórmula 1 · GP de São Paulo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17 · EVENTO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Fórmula 1 · GP de São Paulo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Três momentos durante o GP: convenção de vendas, coletiva de imprensa e jantar com stakeholders.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ronas · Fórmula 1 · GP de São Pa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17 · AUTO · EVENTO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FÓRMULA 1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PETRONAS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Fórmula 1 · GP de São Paulo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Três momentos durante o GP: convenção de vendas, coletiva de imprensa e jantar com stakeholders.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782050" y="6324600"/>
            <a:ext cx="31051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947150" y="6400800"/>
            <a:ext cx="10604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PETRONAS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650" y="6324600"/>
            <a:ext cx="116205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Petronas · Fórmula 1 · GP de São Pa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3390900"/>
          </a:xfrm>
          <a:prstGeom prst="rect">
            <a:avLst/>
          </a:prstGeom>
        </p:spPr>
      </p:pic>
      <p:pic>
        <p:nvPicPr>
          <p:cNvPr id="4" name="Image 1" descr="Petronas · Fórmula 1 · GP de São Pau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3467100"/>
            <a:ext cx="8128000" cy="33909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PETRONAS · A SOLUÇÃO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Três momentos,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GP.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Convenção com cenografia protagonista, coletiva com Lewis Hamilton e George Russell e jantar com ambientação acolhedora.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Grande exposição na imprensa.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782050" y="6324600"/>
            <a:ext cx="31051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947150" y="6400800"/>
            <a:ext cx="10604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PETRONAS</a:t>
            </a:r>
            <a:endParaRPr lang="en-US" sz="900" dirty="0"/>
          </a:p>
        </p:txBody>
      </p:sp>
      <p:pic>
        <p:nvPicPr>
          <p:cNvPr id="15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650" y="6324600"/>
            <a:ext cx="1162050" cy="279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7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9" name="Image 4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064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(06)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 Projetos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260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Território 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424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Todos os cases 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4200" y="762000"/>
            <a:ext cx="8890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Consumo </a:t>
            </a:r>
            <a:pPr algn="l" indent="0" marL="0">
              <a:lnSpc>
                <a:spcPts val="7650"/>
              </a:lnSpc>
              <a:buNone/>
            </a:pPr>
            <a:r>
              <a:rPr lang="en-US" sz="7500" i="1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 varejo</a:t>
            </a:r>
            <a:endParaRPr lang="en-US" sz="75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5209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79500" y="194945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SEARA</a:t>
            </a:r>
            <a:endParaRPr lang="en-US" sz="6250" dirty="0"/>
          </a:p>
        </p:txBody>
      </p:sp>
      <p:sp>
        <p:nvSpPr>
          <p:cNvPr id="10" name="Text 8"/>
          <p:cNvSpPr txBox="1"/>
          <p:nvPr/>
        </p:nvSpPr>
        <p:spPr>
          <a:xfrm>
            <a:off x="6985000" y="23939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SuperBahia 2025 · Dia C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28130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" y="34290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79500" y="285750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PEPSICO</a:t>
            </a:r>
            <a:endParaRPr lang="en-US" sz="6250" dirty="0"/>
          </a:p>
        </p:txBody>
      </p:sp>
      <p:sp>
        <p:nvSpPr>
          <p:cNvPr id="14" name="Text 12"/>
          <p:cNvSpPr txBox="1"/>
          <p:nvPr/>
        </p:nvSpPr>
        <p:spPr>
          <a:xfrm>
            <a:off x="6985000" y="33020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Apas Show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37211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600" y="43370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9500" y="376555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OX COSMÉTICOS</a:t>
            </a:r>
            <a:endParaRPr lang="en-US" sz="6250" dirty="0"/>
          </a:p>
        </p:txBody>
      </p:sp>
      <p:sp>
        <p:nvSpPr>
          <p:cNvPr id="18" name="Text 16"/>
          <p:cNvSpPr txBox="1"/>
          <p:nvPr/>
        </p:nvSpPr>
        <p:spPr>
          <a:xfrm>
            <a:off x="6985000" y="42100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Beauty Fair 2025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9600" y="46291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9600" y="52451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9500" y="467360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LORENZETTI</a:t>
            </a:r>
            <a:endParaRPr lang="en-US" sz="6250" dirty="0"/>
          </a:p>
        </p:txBody>
      </p:sp>
      <p:sp>
        <p:nvSpPr>
          <p:cNvPr id="22" name="Text 20"/>
          <p:cNvSpPr txBox="1"/>
          <p:nvPr/>
        </p:nvSpPr>
        <p:spPr>
          <a:xfrm>
            <a:off x="6985000" y="51181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Revestir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09600" y="55372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9600" y="61531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9500" y="5581650"/>
            <a:ext cx="6350000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30"/>
              </a:lnSpc>
              <a:buNone/>
            </a:pPr>
            <a:r>
              <a:rPr lang="en-US" sz="625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NUPAY</a:t>
            </a:r>
            <a:endParaRPr lang="en-US" sz="6250" dirty="0"/>
          </a:p>
        </p:txBody>
      </p:sp>
      <p:sp>
        <p:nvSpPr>
          <p:cNvPr id="26" name="Text 24"/>
          <p:cNvSpPr txBox="1"/>
          <p:nvPr/>
        </p:nvSpPr>
        <p:spPr>
          <a:xfrm>
            <a:off x="6985000" y="60261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VTEX Day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09600" y="64452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pic>
        <p:nvPicPr>
          <p:cNvPr id="28" name="Image 0" descr="/tmp/claude-0/-home-claude/8e1ee178-3aa5-5bd7-bb29-abd60da1bf1a/scratchpad/pptx/img/68244dc8840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5350" y="1651000"/>
            <a:ext cx="2159000" cy="2698750"/>
          </a:xfrm>
          <a:prstGeom prst="rect">
            <a:avLst/>
          </a:prstGeom>
        </p:spPr>
      </p:pic>
      <p:pic>
        <p:nvPicPr>
          <p:cNvPr id="29" name="Image 1" descr="/tmp/claude-0/-home-claude/8e1ee178-3aa5-5bd7-bb29-abd60da1bf1a/scratchpad/pptx/img/2138dfeee9a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3841750"/>
            <a:ext cx="1651000" cy="16510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32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34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  <p:pic>
        <p:nvPicPr>
          <p:cNvPr id="35" name="Image 4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905000"/>
            <a:ext cx="10972800" cy="908050"/>
          </a:xfrm>
          <a:prstGeom prst="rect">
            <a:avLst/>
          </a:prstGeom>
        </p:spPr>
      </p:pic>
      <p:pic>
        <p:nvPicPr>
          <p:cNvPr id="36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813050"/>
            <a:ext cx="10972800" cy="908050"/>
          </a:xfrm>
          <a:prstGeom prst="rect">
            <a:avLst/>
          </a:prstGeom>
        </p:spPr>
      </p:pic>
      <p:pic>
        <p:nvPicPr>
          <p:cNvPr id="37" name="Image 6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721100"/>
            <a:ext cx="10972800" cy="908050"/>
          </a:xfrm>
          <a:prstGeom prst="rect">
            <a:avLst/>
          </a:prstGeom>
        </p:spPr>
      </p:pic>
      <p:pic>
        <p:nvPicPr>
          <p:cNvPr id="38" name="Image 7" descr="Link">
            <a:hlinkClick r:id="rId16" tooltip="" action="ppaction://hlinksldjump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629150"/>
            <a:ext cx="10972800" cy="908050"/>
          </a:xfrm>
          <a:prstGeom prst="rect">
            <a:avLst/>
          </a:prstGeom>
        </p:spPr>
      </p:pic>
      <p:pic>
        <p:nvPicPr>
          <p:cNvPr id="39" name="Image 8" descr="Link">
            <a:hlinkClick r:id="rId18" tooltip="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5537200"/>
            <a:ext cx="10972800" cy="90805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2 CASES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SEARA</a:t>
            </a:r>
            <a:endParaRPr lang="en-US" sz="15000" dirty="0"/>
          </a:p>
        </p:txBody>
      </p:sp>
      <p:pic>
        <p:nvPicPr>
          <p:cNvPr id="5" name="Image 1" descr="SuperBahia 2025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13100"/>
            <a:ext cx="5372100" cy="218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9600" y="5511800"/>
            <a:ext cx="53721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18 · FEIRA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5753100"/>
            <a:ext cx="53721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SuperBahia 2025</a:t>
            </a:r>
            <a:endParaRPr lang="en-US" sz="2300" dirty="0"/>
          </a:p>
        </p:txBody>
      </p:sp>
      <p:pic>
        <p:nvPicPr>
          <p:cNvPr id="8" name="Image 2" descr="Dia C · A nova era dos congelados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213100"/>
            <a:ext cx="5372100" cy="21844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210300" y="5511800"/>
            <a:ext cx="53721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19 · EVENTO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6210300" y="5753100"/>
            <a:ext cx="53721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 C · A nova era dos congelados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3" name="Image 3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5" name="Image 4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eara · SuperBahia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e25880c20a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1200" y="0"/>
            <a:ext cx="38608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18 · CONSUMO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742950"/>
            <a:ext cx="73025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0"/>
              </a:lnSpc>
              <a:buNone/>
            </a:pPr>
            <a:r>
              <a:rPr lang="en-US" sz="18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SEARA</a:t>
            </a:r>
            <a:endParaRPr lang="en-US" sz="18000" dirty="0"/>
          </a:p>
        </p:txBody>
      </p:sp>
      <p:sp>
        <p:nvSpPr>
          <p:cNvPr id="7" name="Text 2"/>
          <p:cNvSpPr txBox="1"/>
          <p:nvPr/>
        </p:nvSpPr>
        <p:spPr>
          <a:xfrm>
            <a:off x="609600" y="3429000"/>
            <a:ext cx="698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SuperBahia 2025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4826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09600" y="5118100"/>
            <a:ext cx="622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Fortalecer a marca e expandir mercado junto ao empreendedor supermercadista do Nordeste.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9080500" y="6324600"/>
            <a:ext cx="28067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245600" y="6400800"/>
            <a:ext cx="762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SEARA</a:t>
            </a:r>
            <a:endParaRPr lang="en-US" sz="900" dirty="0"/>
          </a:p>
        </p:txBody>
      </p:sp>
      <p:pic>
        <p:nvPicPr>
          <p:cNvPr id="12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6324600"/>
            <a:ext cx="863600" cy="279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Seara · SuperBahia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445000"/>
          </a:xfrm>
          <a:prstGeom prst="rect">
            <a:avLst/>
          </a:prstGeom>
        </p:spPr>
      </p:pic>
      <p:pic>
        <p:nvPicPr>
          <p:cNvPr id="4" name="Image 1" descr="Seara · SuperBahia 20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521200"/>
            <a:ext cx="4025900" cy="2336800"/>
          </a:xfrm>
          <a:prstGeom prst="rect">
            <a:avLst/>
          </a:prstGeom>
        </p:spPr>
      </p:pic>
      <p:pic>
        <p:nvPicPr>
          <p:cNvPr id="5" name="Image 2" descr="Seara · SuperBahia 202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4521200"/>
            <a:ext cx="4025900" cy="233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SEARA · A SOLUÇÃO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Aberto, convidativo e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feito para negócios.</a:t>
            </a:r>
            <a:endParaRPr lang="en-US" sz="36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 aberto, com lounge, salas para reuniões simultâneas, conteúdo de todas as linhas e receptivo operado pela Stap.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Nova parceria de live marketing com a Seara.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080500" y="6324600"/>
            <a:ext cx="28067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245600" y="6400800"/>
            <a:ext cx="762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SEARA</a:t>
            </a:r>
            <a:endParaRPr lang="en-US" sz="900" dirty="0"/>
          </a:p>
        </p:txBody>
      </p:sp>
      <p:pic>
        <p:nvPicPr>
          <p:cNvPr id="16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6324600"/>
            <a:ext cx="863600" cy="279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8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0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eara · Dia C · A nova era dos congel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19 · CONSUMO · EVENTO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SEARA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Dia C · A nova era dos congelados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Apresentar a empresários de supermercados a nova estratégia da Seara para o ponto de venda.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9080500" y="6324600"/>
            <a:ext cx="28067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245600" y="6400800"/>
            <a:ext cx="762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SEARA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100" y="6324600"/>
            <a:ext cx="86360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Seara · Dia C · A nova era dos congel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5435600" cy="3556000"/>
          </a:xfrm>
          <a:prstGeom prst="rect">
            <a:avLst/>
          </a:prstGeom>
        </p:spPr>
      </p:pic>
      <p:pic>
        <p:nvPicPr>
          <p:cNvPr id="4" name="Image 1" descr="Seara · Dia C · A nova era dos congel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0"/>
            <a:ext cx="2616200" cy="3479800"/>
          </a:xfrm>
          <a:prstGeom prst="rect">
            <a:avLst/>
          </a:prstGeom>
        </p:spPr>
      </p:pic>
      <p:pic>
        <p:nvPicPr>
          <p:cNvPr id="5" name="Image 2" descr="Seara · Dia C · A nova era dos congel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632200"/>
            <a:ext cx="2679700" cy="3225800"/>
          </a:xfrm>
          <a:prstGeom prst="rect">
            <a:avLst/>
          </a:prstGeom>
        </p:spPr>
      </p:pic>
      <p:pic>
        <p:nvPicPr>
          <p:cNvPr id="6" name="Image 3" descr="Seara · Dia C · A nova era dos congelad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632200"/>
            <a:ext cx="2679700" cy="3225800"/>
          </a:xfrm>
          <a:prstGeom prst="rect">
            <a:avLst/>
          </a:prstGeom>
        </p:spPr>
      </p:pic>
      <p:pic>
        <p:nvPicPr>
          <p:cNvPr id="7" name="Image 4" descr="Seara · Dia C · A nova era dos congelad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0" y="3556000"/>
            <a:ext cx="2616200" cy="3302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SEARA · A SOLUÇÃO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nova era dos congelados,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palco.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gestão do evento no Espaço L’Atelier, com plenária, telão de LED e ambientes para cada momento.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2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São Paulo, julho de 2025.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9080500" y="6324600"/>
            <a:ext cx="28067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245600" y="6400800"/>
            <a:ext cx="762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SEARA</a:t>
            </a:r>
            <a:endParaRPr lang="en-US" sz="900" dirty="0"/>
          </a:p>
        </p:txBody>
      </p:sp>
      <p:pic>
        <p:nvPicPr>
          <p:cNvPr id="18" name="Image 5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100" y="6324600"/>
            <a:ext cx="863600" cy="279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6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7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PEPSICO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1fc269264c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362683"/>
          </a:xfrm>
          <a:prstGeom prst="rect">
            <a:avLst/>
          </a:prstGeom>
        </p:spPr>
      </p:pic>
      <p:pic>
        <p:nvPicPr>
          <p:cNvPr id="6" name="Image 2" descr="Apas Show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20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Apas Show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Reforçar a presença no varejo e mostrar o portfólio aplicado ao ponto de venda.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psiCo · Apas Sh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20 · CONSUMO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APAS SHOW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PEPSICO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Apas Show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Reforçar a presença no varejo e mostrar o portfólio aplicado ao ponto de venda.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PEPSICO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PepsiCo · Apas Sh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5435600" cy="3556000"/>
          </a:xfrm>
          <a:prstGeom prst="rect">
            <a:avLst/>
          </a:prstGeom>
        </p:spPr>
      </p:pic>
      <p:pic>
        <p:nvPicPr>
          <p:cNvPr id="4" name="Image 1" descr="PepsiCo · Apas Sh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0"/>
            <a:ext cx="2616200" cy="3479800"/>
          </a:xfrm>
          <a:prstGeom prst="rect">
            <a:avLst/>
          </a:prstGeom>
        </p:spPr>
      </p:pic>
      <p:pic>
        <p:nvPicPr>
          <p:cNvPr id="5" name="Image 2" descr="PepsiCo · Apas Sh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632200"/>
            <a:ext cx="2679700" cy="3225800"/>
          </a:xfrm>
          <a:prstGeom prst="rect">
            <a:avLst/>
          </a:prstGeom>
        </p:spPr>
      </p:pic>
      <p:pic>
        <p:nvPicPr>
          <p:cNvPr id="6" name="Image 3" descr="PepsiCo · Apas Sh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632200"/>
            <a:ext cx="2679700" cy="3225800"/>
          </a:xfrm>
          <a:prstGeom prst="rect">
            <a:avLst/>
          </a:prstGeom>
        </p:spPr>
      </p:pic>
      <p:pic>
        <p:nvPicPr>
          <p:cNvPr id="7" name="Image 4" descr="PepsiCo · Apas Sh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0" y="3556000"/>
            <a:ext cx="2616200" cy="3302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PEPSICO · A SOLUÇÃO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loja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perfeita.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 “loja perfeita PepsiCo”, simulação de PDV organizada por momento de consumo, com áreas de negócios e ambientações por categoria.</a:t>
            </a:r>
            <a:endParaRPr lang="en-US" sz="1300" dirty="0"/>
          </a:p>
        </p:txBody>
      </p:sp>
      <p:sp>
        <p:nvSpPr>
          <p:cNvPr id="11" name="Text 4"/>
          <p:cNvSpPr txBox="1"/>
          <p:nvPr/>
        </p:nvSpPr>
        <p:spPr>
          <a:xfrm>
            <a:off x="609600" y="5334000"/>
            <a:ext cx="2946400" cy="213360"/>
          </a:xfrm>
          <a:prstGeom prst="rect">
            <a:avLst/>
          </a:prstGeom>
          <a:solidFill>
            <a:srgbClr val="0B1C2D"/>
          </a:solidFill>
          <a:ln/>
        </p:spPr>
        <p:txBody>
          <a:bodyPr wrap="square" lIns="88900" tIns="88900" rIns="88900" bIns="8890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Prêmio POPAI Brasil dois anos seguidos</a:t>
            </a:r>
            <a:endParaRPr lang="en-US" sz="1200" dirty="0"/>
          </a:p>
        </p:txBody>
      </p:sp>
      <p:sp>
        <p:nvSpPr>
          <p:cNvPr id="12" name="Shape 5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6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PEPSICO</a:t>
            </a:r>
            <a:endParaRPr lang="en-US" sz="900" dirty="0"/>
          </a:p>
        </p:txBody>
      </p:sp>
      <p:pic>
        <p:nvPicPr>
          <p:cNvPr id="17" name="Image 5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6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7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OX COSMÉTICOS</a:t>
            </a:r>
            <a:endParaRPr lang="en-US" sz="15000" dirty="0"/>
          </a:p>
        </p:txBody>
      </p:sp>
      <p:pic>
        <p:nvPicPr>
          <p:cNvPr id="5" name="Image 1" descr="Beauty Fair 2025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21 · FEIRA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Beauty Fair 2025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Destacar a parceria com Mari Maria e os lançamentos OX Science e Wonka numa feira cheia de estrelas.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3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5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X Cosméticos · Beauty Fair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e25880c20a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31200" cy="6858000"/>
          </a:xfrm>
          <a:prstGeom prst="rect">
            <a:avLst/>
          </a:prstGeom>
        </p:spPr>
      </p:pic>
      <p:pic>
        <p:nvPicPr>
          <p:cNvPr id="5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31200" y="0"/>
            <a:ext cx="3860800" cy="6858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21 · CONSUMO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1606550"/>
            <a:ext cx="7302500" cy="169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80"/>
              </a:lnSpc>
              <a:buNone/>
            </a:pPr>
            <a:r>
              <a:rPr lang="en-US" sz="1195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OX COSMÉTICOS</a:t>
            </a:r>
            <a:endParaRPr lang="en-US" sz="11950" dirty="0"/>
          </a:p>
        </p:txBody>
      </p:sp>
      <p:sp>
        <p:nvSpPr>
          <p:cNvPr id="7" name="Text 2"/>
          <p:cNvSpPr txBox="1"/>
          <p:nvPr/>
        </p:nvSpPr>
        <p:spPr>
          <a:xfrm>
            <a:off x="609600" y="3429000"/>
            <a:ext cx="69850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Beauty Fair 2025</a:t>
            </a:r>
            <a:endParaRPr lang="en-US" sz="42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4826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609600" y="5118100"/>
            <a:ext cx="622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Destacar a parceria com Mari Maria e os lançamentos OX Science e Wonka numa feira cheia de estrelas.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8293100" y="6324600"/>
            <a:ext cx="35941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458200" y="6400800"/>
            <a:ext cx="1549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OX COSMÉTICOS</a:t>
            </a:r>
            <a:endParaRPr lang="en-US" sz="900" dirty="0"/>
          </a:p>
        </p:txBody>
      </p:sp>
      <p:pic>
        <p:nvPicPr>
          <p:cNvPr id="12" name="Image 2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700" y="6324600"/>
            <a:ext cx="1651000" cy="279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OX Cosméticos · Beauty Fair 20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OX Cosméticos · Beauty Fair 202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OX Cosméticos · Beauty Fair 202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OX Cosméticos · Beauty Fair 202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OX COSMÉTICOS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Luz dourada e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fila na porta.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Design ousado como a marca, com linhas elegantes em harmonia com os lançamentos, do projeto à operação.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dos atrativos da Beauty Fair 2025.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8293100" y="6324600"/>
            <a:ext cx="35941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458200" y="6400800"/>
            <a:ext cx="15494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OX COSMÉTICOS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700" y="6324600"/>
            <a:ext cx="165100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LORENZETTI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77643e26049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247257"/>
          </a:xfrm>
          <a:prstGeom prst="rect">
            <a:avLst/>
          </a:prstGeom>
        </p:spPr>
      </p:pic>
      <p:pic>
        <p:nvPicPr>
          <p:cNvPr id="6" name="Image 2" descr="Revestir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22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Revestir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Representar o conceito de lar e gerar experiências reais com os produtos num dos maiores eventos de construção e design.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Lorenzetti · Revest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22 · CONSUMO · FEIRA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LORENZETTI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Revestir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Representar o conceito de lar e gerar experiências reais com os produtos num dos maiores eventos de construção e design.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585200" y="6324600"/>
            <a:ext cx="33020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750300" y="6400800"/>
            <a:ext cx="12573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LORENZETTI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6324600"/>
            <a:ext cx="135890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Lorenzetti · Revest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445000"/>
          </a:xfrm>
          <a:prstGeom prst="rect">
            <a:avLst/>
          </a:prstGeom>
        </p:spPr>
      </p:pic>
      <p:pic>
        <p:nvPicPr>
          <p:cNvPr id="4" name="Image 1" descr="Lorenzetti · Revest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521200"/>
            <a:ext cx="4025900" cy="2336800"/>
          </a:xfrm>
          <a:prstGeom prst="rect">
            <a:avLst/>
          </a:prstGeom>
        </p:spPr>
      </p:pic>
      <p:pic>
        <p:nvPicPr>
          <p:cNvPr id="5" name="Image 2" descr="Lorenzetti · Revest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4521200"/>
            <a:ext cx="4025900" cy="233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LORENZETTI · A SOLUÇÃO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Uma casa modelo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dentro da feira.</a:t>
            </a:r>
            <a:endParaRPr lang="en-US" sz="36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Estande como casa modelo, com produtos aplicados em uso, iluminação planejada e cenografia associada à água.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visita pensada como jornada do cliente.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585200" y="6324600"/>
            <a:ext cx="33020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750300" y="6400800"/>
            <a:ext cx="12573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LORENZETTI</a:t>
            </a:r>
            <a:endParaRPr lang="en-US" sz="900" dirty="0"/>
          </a:p>
        </p:txBody>
      </p:sp>
      <p:pic>
        <p:nvPicPr>
          <p:cNvPr id="16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6324600"/>
            <a:ext cx="1358900" cy="279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8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0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NUPAY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b60d48020e2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341252"/>
          </a:xfrm>
          <a:prstGeom prst="rect">
            <a:avLst/>
          </a:prstGeom>
        </p:spPr>
      </p:pic>
      <p:pic>
        <p:nvPicPr>
          <p:cNvPr id="6" name="Image 2" descr="VTEX Day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23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VTEX Day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Fortalecer a marca Nubank em tecnologia e aproximar diferentes públicos do novo produto NuPay.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uPay · VTEX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23 · CONSUMO · FEIRA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VTEX DAY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2489200"/>
            <a:ext cx="73025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0"/>
              </a:lnSpc>
              <a:buNone/>
            </a:pPr>
            <a:r>
              <a:rPr lang="en-US" sz="20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NUPAY</a:t>
            </a:r>
            <a:endParaRPr lang="en-US" sz="20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VTEX Day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Fortalecer a marca Nubank em tecnologia e aproximar diferentes públicos do novo produto NuPay.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9080500" y="6324600"/>
            <a:ext cx="28067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245600" y="6400800"/>
            <a:ext cx="762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NUPAY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6324600"/>
            <a:ext cx="86360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NuPay · VTEX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064000"/>
          </a:xfrm>
          <a:prstGeom prst="rect">
            <a:avLst/>
          </a:prstGeom>
        </p:spPr>
      </p:pic>
      <p:pic>
        <p:nvPicPr>
          <p:cNvPr id="4" name="Image 1" descr="NuPay · VTEX D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140200"/>
            <a:ext cx="2667000" cy="2717800"/>
          </a:xfrm>
          <a:prstGeom prst="rect">
            <a:avLst/>
          </a:prstGeom>
        </p:spPr>
      </p:pic>
      <p:pic>
        <p:nvPicPr>
          <p:cNvPr id="5" name="Image 2" descr="NuPay · VTEX D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0" y="4140200"/>
            <a:ext cx="2667000" cy="2717800"/>
          </a:xfrm>
          <a:prstGeom prst="rect">
            <a:avLst/>
          </a:prstGeom>
        </p:spPr>
      </p:pic>
      <p:pic>
        <p:nvPicPr>
          <p:cNvPr id="6" name="Image 3" descr="NuPay · VTEX D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4140200"/>
            <a:ext cx="2641600" cy="271780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NUPAY · A SOLUÇÃO</a:t>
            </a:r>
            <a:endParaRPr lang="en-US" sz="1200" dirty="0"/>
          </a:p>
        </p:txBody>
      </p:sp>
      <p:sp>
        <p:nvSpPr>
          <p:cNvPr id="8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circuito para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entender o produto.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Cenografia com vários pontos de contato, ativação na entrada para a abordagem comercial e demonstrações práticas do produto.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1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Conteúdos e palestras no espaço.</a:t>
            </a:r>
            <a:endParaRPr lang="en-US" sz="1700" dirty="0"/>
          </a:p>
        </p:txBody>
      </p:sp>
      <p:sp>
        <p:nvSpPr>
          <p:cNvPr id="12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9080500" y="6324600"/>
            <a:ext cx="28067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245600" y="6400800"/>
            <a:ext cx="762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NUPAY</a:t>
            </a:r>
            <a:endParaRPr lang="en-US" sz="900" dirty="0"/>
          </a:p>
        </p:txBody>
      </p:sp>
      <p:pic>
        <p:nvPicPr>
          <p:cNvPr id="17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100" y="6324600"/>
            <a:ext cx="863600" cy="279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9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1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06400"/>
            <a:ext cx="109728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6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(03)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 Projetos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260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Território 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042400" y="508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Todos os cases 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4200" y="762000"/>
            <a:ext cx="8890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Indústria </a:t>
            </a:r>
            <a:pPr algn="l" indent="0" marL="0">
              <a:lnSpc>
                <a:spcPts val="7650"/>
              </a:lnSpc>
              <a:buNone/>
            </a:pPr>
            <a:r>
              <a:rPr lang="en-US" sz="7500" i="1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 corporativo</a:t>
            </a:r>
            <a:endParaRPr lang="en-US" sz="75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28892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79500" y="2146300"/>
            <a:ext cx="63500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BRASKEM</a:t>
            </a:r>
            <a:endParaRPr lang="en-US" sz="7500" dirty="0"/>
          </a:p>
        </p:txBody>
      </p:sp>
      <p:sp>
        <p:nvSpPr>
          <p:cNvPr id="10" name="Text 8"/>
          <p:cNvSpPr txBox="1"/>
          <p:nvPr/>
        </p:nvSpPr>
        <p:spPr>
          <a:xfrm>
            <a:off x="6985000" y="27622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Feiplastic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1813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" y="397510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79500" y="3232150"/>
            <a:ext cx="63500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SHERWIN-WILLIAMS</a:t>
            </a:r>
            <a:endParaRPr lang="en-US" sz="7500" dirty="0"/>
          </a:p>
        </p:txBody>
      </p:sp>
      <p:sp>
        <p:nvSpPr>
          <p:cNvPr id="14" name="Text 12"/>
          <p:cNvSpPr txBox="1"/>
          <p:nvPr/>
        </p:nvSpPr>
        <p:spPr>
          <a:xfrm>
            <a:off x="6985000" y="384810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Convenção de vendas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426720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9600" y="5060950"/>
            <a:ext cx="381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9500" y="4318000"/>
            <a:ext cx="63500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>
                <a:solidFill>
                  <a:srgbClr val="0B1C2D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MUTANT</a:t>
            </a:r>
            <a:endParaRPr lang="en-US" sz="7500" dirty="0"/>
          </a:p>
        </p:txBody>
      </p:sp>
      <p:sp>
        <p:nvSpPr>
          <p:cNvPr id="18" name="Text 16"/>
          <p:cNvSpPr txBox="1"/>
          <p:nvPr/>
        </p:nvSpPr>
        <p:spPr>
          <a:xfrm>
            <a:off x="6985000" y="4933950"/>
            <a:ext cx="459740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Customer Experience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9600" y="5353050"/>
            <a:ext cx="10972800" cy="6350"/>
          </a:xfrm>
          <a:prstGeom prst="rect">
            <a:avLst/>
          </a:prstGeom>
          <a:solidFill>
            <a:srgbClr val="BDB5A8"/>
          </a:solidFill>
          <a:ln/>
        </p:spPr>
      </p:sp>
      <p:pic>
        <p:nvPicPr>
          <p:cNvPr id="20" name="Image 0" descr="/tmp/claude-0/-home-claude/8e1ee178-3aa5-5bd7-bb29-abd60da1bf1a/scratchpad/pptx/img/9e8a528fd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0" y="1841500"/>
            <a:ext cx="2159000" cy="2698750"/>
          </a:xfrm>
          <a:prstGeom prst="rect">
            <a:avLst/>
          </a:prstGeom>
        </p:spPr>
      </p:pic>
      <p:pic>
        <p:nvPicPr>
          <p:cNvPr id="21" name="Image 1" descr="/tmp/claude-0/-home-claude/8e1ee178-3aa5-5bd7-bb29-abd60da1bf1a/scratchpad/pptx/img/c22bc0d31af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4032250"/>
            <a:ext cx="1651000" cy="16510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4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6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  <p:pic>
        <p:nvPicPr>
          <p:cNvPr id="27" name="Image 4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095500"/>
            <a:ext cx="10972800" cy="1085850"/>
          </a:xfrm>
          <a:prstGeom prst="rect">
            <a:avLst/>
          </a:prstGeom>
        </p:spPr>
      </p:pic>
      <p:pic>
        <p:nvPicPr>
          <p:cNvPr id="28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181350"/>
            <a:ext cx="10972800" cy="1085850"/>
          </a:xfrm>
          <a:prstGeom prst="rect">
            <a:avLst/>
          </a:prstGeom>
        </p:spPr>
      </p:pic>
      <p:pic>
        <p:nvPicPr>
          <p:cNvPr id="29" name="Image 6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267200"/>
            <a:ext cx="1097280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BRASKEM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eff656fcc6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457638"/>
          </a:xfrm>
          <a:prstGeom prst="rect">
            <a:avLst/>
          </a:prstGeom>
        </p:spPr>
      </p:pic>
      <p:pic>
        <p:nvPicPr>
          <p:cNvPr id="6" name="Image 2" descr="Feiplastic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24 · FEIRA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Feiplastic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Traduzir inovação, sustentabilidade e a aplicação prática das resinas Braskem.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Braskem · Feiplast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24 · INDÚSTRIA · FEIRA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BRASKEM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Feiplastic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Traduzir inovação, sustentabilidade e a aplicação prática das resinas Braskem.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BRASKEM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Braskem · Feiplas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5435600" cy="3556000"/>
          </a:xfrm>
          <a:prstGeom prst="rect">
            <a:avLst/>
          </a:prstGeom>
        </p:spPr>
      </p:pic>
      <p:pic>
        <p:nvPicPr>
          <p:cNvPr id="4" name="Image 1" descr="Braskem · Feiplast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800" y="0"/>
            <a:ext cx="2616200" cy="3479800"/>
          </a:xfrm>
          <a:prstGeom prst="rect">
            <a:avLst/>
          </a:prstGeom>
        </p:spPr>
      </p:pic>
      <p:pic>
        <p:nvPicPr>
          <p:cNvPr id="5" name="Image 2" descr="Braskem · Feiplasti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3632200"/>
            <a:ext cx="2679700" cy="3225800"/>
          </a:xfrm>
          <a:prstGeom prst="rect">
            <a:avLst/>
          </a:prstGeom>
        </p:spPr>
      </p:pic>
      <p:pic>
        <p:nvPicPr>
          <p:cNvPr id="6" name="Image 3" descr="Braskem · Feiplasti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632200"/>
            <a:ext cx="2679700" cy="3225800"/>
          </a:xfrm>
          <a:prstGeom prst="rect">
            <a:avLst/>
          </a:prstGeom>
        </p:spPr>
      </p:pic>
      <p:pic>
        <p:nvPicPr>
          <p:cNvPr id="7" name="Image 4" descr="Braskem · Feiplasti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0" y="3556000"/>
            <a:ext cx="2616200" cy="33020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BRASKEM · A SOLUÇÃO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produto do cliente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virou arquitetura.</a:t>
            </a:r>
            <a:endParaRPr lang="en-US" sz="3600" dirty="0"/>
          </a:p>
        </p:txBody>
      </p:sp>
      <p:sp>
        <p:nvSpPr>
          <p:cNvPr id="10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As próprias resinas como elementos estruturais e cenográficos do estande, com conteúdos interativos e especialistas no espaço.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2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Parceria de mais de 15 anos.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8883650" y="6324600"/>
            <a:ext cx="3003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048750" y="6400800"/>
            <a:ext cx="958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BRASKEM</a:t>
            </a:r>
            <a:endParaRPr lang="en-US" sz="900" dirty="0"/>
          </a:p>
        </p:txBody>
      </p:sp>
      <p:pic>
        <p:nvPicPr>
          <p:cNvPr id="18" name="Image 5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5250" y="6324600"/>
            <a:ext cx="1060450" cy="279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20" name="Image 6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2" name="Image 7" descr="Link">
            <a:hlinkClick r:id="rId14" tooltip="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SHERWIN-WILLIAMS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ea68318140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0543" y="508000"/>
            <a:ext cx="1251857" cy="571500"/>
          </a:xfrm>
          <a:prstGeom prst="rect">
            <a:avLst/>
          </a:prstGeom>
        </p:spPr>
      </p:pic>
      <p:pic>
        <p:nvPicPr>
          <p:cNvPr id="6" name="Image 2" descr="Convenção de vendas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25 · EVENTO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Convenção de vendas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Transformar a convenção anual em um momento de alinhamento de metas com equipes e parceiros.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erwin-Williams · Convenção de ven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332bc2adb31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3000"/>
            <a:ext cx="12192000" cy="4445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de650a1e529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524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4572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25 · INDÚSTRIA · EVENTO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137400" y="457200"/>
            <a:ext cx="444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CONVENÇÃO DE VENDAS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1924050"/>
            <a:ext cx="73025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0"/>
              </a:lnSpc>
              <a:buNone/>
            </a:pPr>
            <a:r>
              <a:rPr lang="en-US" sz="12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SHERWIN-</a:t>
            </a:r>
            <a:endParaRPr lang="en-US" sz="12000" dirty="0"/>
          </a:p>
          <a:p>
            <a:pPr algn="l" indent="0" marL="0">
              <a:lnSpc>
                <a:spcPts val="13440"/>
              </a:lnSpc>
              <a:buNone/>
            </a:pPr>
            <a:r>
              <a:rPr lang="en-US" sz="12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WILLIAMS</a:t>
            </a:r>
            <a:endParaRPr lang="en-US" sz="120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461000"/>
            <a:ext cx="698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i="1" spc="-5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Convenção de vendas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8026400" y="4191000"/>
            <a:ext cx="355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026400" y="4495800"/>
            <a:ext cx="3556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Transformar a convenção anual em um momento de alinhamento de metas com equipes e parceiros.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994650" y="6324600"/>
            <a:ext cx="389255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159750" y="6400800"/>
            <a:ext cx="1847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SHERWIN-WILLIAMS</a:t>
            </a:r>
            <a:endParaRPr lang="en-US" sz="900" dirty="0"/>
          </a:p>
        </p:txBody>
      </p:sp>
      <p:pic>
        <p:nvPicPr>
          <p:cNvPr id="13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6324600"/>
            <a:ext cx="1949450" cy="279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Sherwin-Williams · Convenção de ven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4445000"/>
          </a:xfrm>
          <a:prstGeom prst="rect">
            <a:avLst/>
          </a:prstGeom>
        </p:spPr>
      </p:pic>
      <p:pic>
        <p:nvPicPr>
          <p:cNvPr id="4" name="Image 1" descr="Sherwin-Williams · Convenção de ven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4521200"/>
            <a:ext cx="4025900" cy="2336800"/>
          </a:xfrm>
          <a:prstGeom prst="rect">
            <a:avLst/>
          </a:prstGeom>
        </p:spPr>
      </p:pic>
      <p:pic>
        <p:nvPicPr>
          <p:cNvPr id="5" name="Image 2" descr="Sherwin-Williams · Convenção de vend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4521200"/>
            <a:ext cx="4025900" cy="23368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SHERWIN-WILLIAMS · A SOLUÇÃO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Metas alinhadas,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time integrado.</a:t>
            </a:r>
            <a:endParaRPr lang="en-US" sz="36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Planejamento e operação completa no Mabu Thermas Resort, em Foz do Iguaçu: cenografia, logística, conteúdo e organização geral.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Palestras, shows e atividades de integração.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50" y="6324600"/>
            <a:ext cx="389255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159750" y="6400800"/>
            <a:ext cx="184785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SHERWIN-WILLIAMS</a:t>
            </a:r>
            <a:endParaRPr lang="en-US" sz="900" dirty="0"/>
          </a:p>
        </p:txBody>
      </p:sp>
      <p:pic>
        <p:nvPicPr>
          <p:cNvPr id="16" name="Image 3" descr="Link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6324600"/>
            <a:ext cx="1949450" cy="279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8" name="Image 4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20" name="Image 5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50800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CLIENTE · 1 CASE COM A STAP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500" y="8890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MUTANT</a:t>
            </a:r>
            <a:endParaRPr lang="en-US" sz="15000" dirty="0"/>
          </a:p>
        </p:txBody>
      </p:sp>
      <p:pic>
        <p:nvPicPr>
          <p:cNvPr id="5" name="Image 1" descr="/tmp/claude-0/-home-claude/8e1ee178-3aa5-5bd7-bb29-abd60da1bf1a/scratchpad/pptx/img/ab83b511d1b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5400" y="508000"/>
            <a:ext cx="1397000" cy="496455"/>
          </a:xfrm>
          <a:prstGeom prst="rect">
            <a:avLst/>
          </a:prstGeom>
        </p:spPr>
      </p:pic>
      <p:pic>
        <p:nvPicPr>
          <p:cNvPr id="6" name="Image 2" descr="Customer Experience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13100"/>
            <a:ext cx="6604000" cy="2184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09600" y="5511800"/>
            <a:ext cx="66040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26 · EVENTO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609600" y="5753100"/>
            <a:ext cx="6604000" cy="6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300" i="1" u="sng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Experience</a:t>
            </a:r>
            <a:endParaRPr lang="en-US" sz="2300" dirty="0"/>
          </a:p>
        </p:txBody>
      </p:sp>
      <p:sp>
        <p:nvSpPr>
          <p:cNvPr id="9" name="Text 4"/>
          <p:cNvSpPr txBox="1"/>
          <p:nvPr/>
        </p:nvSpPr>
        <p:spPr>
          <a:xfrm>
            <a:off x="7620000" y="3213100"/>
            <a:ext cx="396240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20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7620000" y="3492500"/>
            <a:ext cx="396240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Lançar os cursos de CX da Mutant University com um evento à altura de uma referência em educação corporativa.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620000" y="4864100"/>
            <a:ext cx="396240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o case →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4" name="Image 3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6" name="Image 4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031db425f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Mutant · Customer Experi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10972800" cy="3556000"/>
          </a:xfrm>
          <a:prstGeom prst="rect">
            <a:avLst/>
          </a:prstGeom>
        </p:spPr>
      </p:pic>
      <p:pic>
        <p:nvPicPr>
          <p:cNvPr id="4" name="Image 2" descr="/tmp/claude-0/-home-claude/8e1ee178-3aa5-5bd7-bb29-abd60da1bf1a/scratchpad/pptx/img/g2acca204572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35200"/>
            <a:ext cx="10972800" cy="1778000"/>
          </a:xfrm>
          <a:prstGeom prst="rect">
            <a:avLst/>
          </a:prstGeom>
        </p:spPr>
      </p:pic>
      <p:pic>
        <p:nvPicPr>
          <p:cNvPr id="5" name="Image 3" descr="/tmp/claude-0/-home-claude/8e1ee178-3aa5-5bd7-bb29-abd60da1bf1a/scratchpad/pptx/img/g0651334b4b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7200"/>
            <a:ext cx="10972800" cy="8890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812800" y="660400"/>
            <a:ext cx="698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CASE 26 · INDÚSTRIA · EVENTO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571500" y="2463800"/>
            <a:ext cx="1104900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0"/>
              </a:lnSpc>
              <a:buNone/>
            </a:pPr>
            <a:r>
              <a:rPr lang="en-US" sz="15000" dirty="0">
                <a:solidFill>
                  <a:srgbClr val="DCE6F2"/>
                </a:solidFill>
                <a:latin typeface="Tusker Grotesk 3500 Medium" pitchFamily="34" charset="0"/>
                <a:ea typeface="Tusker Grotesk 3500 Medium" pitchFamily="34" charset="-122"/>
                <a:cs typeface="Tusker Grotesk 3500 Medium" pitchFamily="34" charset="-120"/>
              </a:rPr>
              <a:t>MUTANT</a:t>
            </a:r>
            <a:endParaRPr lang="en-US" sz="15000" dirty="0"/>
          </a:p>
        </p:txBody>
      </p:sp>
      <p:sp>
        <p:nvSpPr>
          <p:cNvPr id="8" name="Text 2"/>
          <p:cNvSpPr txBox="1"/>
          <p:nvPr/>
        </p:nvSpPr>
        <p:spPr>
          <a:xfrm>
            <a:off x="609600" y="4826000"/>
            <a:ext cx="8255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i="1" spc="-5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Customer Experience</a:t>
            </a:r>
            <a:endParaRPr lang="en-US" sz="3600" dirty="0"/>
          </a:p>
        </p:txBody>
      </p:sp>
      <p:sp>
        <p:nvSpPr>
          <p:cNvPr id="9" name="Text 3"/>
          <p:cNvSpPr txBox="1"/>
          <p:nvPr/>
        </p:nvSpPr>
        <p:spPr>
          <a:xfrm>
            <a:off x="609600" y="5715000"/>
            <a:ext cx="190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2540000" y="5676900"/>
            <a:ext cx="90424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Lançar os cursos de CX da Mutant University com um evento à altura de uma referência em educação corporativa.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MUTANT</a:t>
            </a:r>
            <a:endParaRPr lang="en-US" sz="900" dirty="0"/>
          </a:p>
        </p:txBody>
      </p:sp>
      <p:pic>
        <p:nvPicPr>
          <p:cNvPr id="13" name="Image 4" descr="Link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5" name="Image 5" descr="Link">
            <a:hlinkClick r:id="rId10" tooltip="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7" name="Image 6" descr="Link">
            <a:hlinkClick r:id="rId13" tooltip="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pic>
        <p:nvPicPr>
          <p:cNvPr id="3" name="Image 0" descr="Mutant · Customer Experi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0" y="0"/>
            <a:ext cx="8128000" cy="3390900"/>
          </a:xfrm>
          <a:prstGeom prst="rect">
            <a:avLst/>
          </a:prstGeom>
        </p:spPr>
      </p:pic>
      <p:pic>
        <p:nvPicPr>
          <p:cNvPr id="4" name="Image 1" descr="Mutant · Customer Experi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3467100"/>
            <a:ext cx="8128000" cy="33909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9600" y="508000"/>
            <a:ext cx="317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1F4FA8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MUTANT · A SOLUÇÃO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84200" y="825500"/>
            <a:ext cx="29845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0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Um palco à altura </a:t>
            </a:r>
            <a:pPr algn="l" indent="0" marL="0">
              <a:lnSpc>
                <a:spcPts val="3820"/>
              </a:lnSpc>
              <a:buNone/>
            </a:pPr>
            <a:r>
              <a:rPr lang="en-US" sz="3600" i="1" spc="-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 conteúdo.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3048000"/>
            <a:ext cx="2946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Evento na Casa Bossa, no Shopping Cidade Jardim, com cenografia de palco desenhada para valorizar conteúdos e speakers.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09600" y="4699000"/>
            <a:ext cx="304800" cy="12700"/>
          </a:xfrm>
          <a:prstGeom prst="rect">
            <a:avLst/>
          </a:prstGeom>
          <a:solidFill>
            <a:srgbClr val="1F4FA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09600" y="4851400"/>
            <a:ext cx="29464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700" i="1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Palestras e uma jornada sobre tendências em CX.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09600" y="6096000"/>
            <a:ext cx="2946400" cy="635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09600" y="6223000"/>
            <a:ext cx="2946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ENTREGA STAP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9600" y="6464300"/>
            <a:ext cx="3302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Criação, projeto, produção e operação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978900" y="6324600"/>
            <a:ext cx="29083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MUTANT</a:t>
            </a:r>
            <a:endParaRPr lang="en-US" sz="900" dirty="0"/>
          </a:p>
        </p:txBody>
      </p:sp>
      <p:pic>
        <p:nvPicPr>
          <p:cNvPr id="15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00" y="6324600"/>
            <a:ext cx="965200" cy="279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7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9" name="Image 4" descr="Link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4200" y="406400"/>
            <a:ext cx="1079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spc="-15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Mais que clientes, </a:t>
            </a:r>
            <a:pPr algn="l" indent="0" marL="0">
              <a:lnSpc>
                <a:spcPts val="6000"/>
              </a:lnSpc>
              <a:buNone/>
            </a:pPr>
            <a:r>
              <a:rPr lang="en-US" sz="6000" i="1" spc="-150" kern="0" dirty="0">
                <a:solidFill>
                  <a:srgbClr val="1F4FA8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parceiros.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9042400" y="609600"/>
            <a:ext cx="254000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Marcas que voltam, ano após ano, para construir de novo com a gente.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600" y="1778000"/>
            <a:ext cx="3454400" cy="635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600" y="1955800"/>
            <a:ext cx="34544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“Trabalhar com a Stap é sinônimo de confiança, qualidade e respeito. São verdadeiros parceiros, capazes de transformar o impossível em possível.”</a:t>
            </a:r>
            <a:endParaRPr lang="en-US" sz="1500" dirty="0"/>
          </a:p>
        </p:txBody>
      </p:sp>
      <p:pic>
        <p:nvPicPr>
          <p:cNvPr id="7" name="Image 0" descr="Felipe Al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276600"/>
            <a:ext cx="406400" cy="406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32766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Felipe Alves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4925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Brand Experience, Volkswagen Brasil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8800" y="1778000"/>
            <a:ext cx="3454400" cy="635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68800" y="1955800"/>
            <a:ext cx="34544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“Trabalhar com a Stap pra mim é me sentir em casa. É saber que você está sendo ouvida e terminar cada projeto com a sensação de que o melhor foi feito por todos.”</a:t>
            </a:r>
            <a:endParaRPr lang="en-US" sz="1500" dirty="0"/>
          </a:p>
        </p:txBody>
      </p:sp>
      <p:pic>
        <p:nvPicPr>
          <p:cNvPr id="12" name="Image 1" descr="Fernanda Malu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0" y="3276600"/>
            <a:ext cx="406400" cy="4064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02200" y="32766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Fernanda Maluf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02200" y="34925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Marketing, Braskem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28000" y="1778000"/>
            <a:ext cx="3454400" cy="635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128000" y="1955800"/>
            <a:ext cx="34544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“A qualidade e a criatividade da Stap são imensuráveis. Conquistamos reconhecimento dos nossos clientes através das principais feiras de Norte a Sul do país.”</a:t>
            </a:r>
            <a:endParaRPr lang="en-US" sz="1500" dirty="0"/>
          </a:p>
        </p:txBody>
      </p:sp>
      <p:pic>
        <p:nvPicPr>
          <p:cNvPr id="17" name="Image 2" descr="Evelin Queiro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276600"/>
            <a:ext cx="406400" cy="4064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61400" y="32766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Evelin Queiroz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661400" y="34925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Comunicação Corporativa, FMC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9600" y="4191000"/>
            <a:ext cx="3454400" cy="635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09600" y="4368800"/>
            <a:ext cx="34544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“A Stap é uma agência diferenciada, criativa e humanizada. Trabalhamos há mais de 15 anos juntos e os resultados sempre foram superados, ano após ano.”</a:t>
            </a:r>
            <a:endParaRPr lang="en-US" sz="1500" dirty="0"/>
          </a:p>
        </p:txBody>
      </p:sp>
      <p:pic>
        <p:nvPicPr>
          <p:cNvPr id="22" name="Image 3" descr="Vanessa Vittorell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689600"/>
            <a:ext cx="406400" cy="4064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43000" y="56896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Vanessa Vittorello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59055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Marketing, Braskem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68800" y="4191000"/>
            <a:ext cx="3454400" cy="635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4368800" y="4368800"/>
            <a:ext cx="34544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“Como é bom poder contar com um grande parceiro como a Stap! Uma equipe competente e comprometida em superar as expectativas de cada entrega.”</a:t>
            </a:r>
            <a:endParaRPr lang="en-US" sz="1500" dirty="0"/>
          </a:p>
        </p:txBody>
      </p:sp>
      <p:pic>
        <p:nvPicPr>
          <p:cNvPr id="27" name="Image 4" descr="Sylvia Scienc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800" y="5689600"/>
            <a:ext cx="406400" cy="4064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902200" y="56896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Sylvia Sciencio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4902200" y="59055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Marketing, Lanxess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128000" y="4191000"/>
            <a:ext cx="3454400" cy="635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128000" y="4368800"/>
            <a:ext cx="34544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“Uma equipe com ampla expertise para realizar do planejamento à implementação do evento. Recomendo com convicção a Stap para qualquer evento.”</a:t>
            </a:r>
            <a:endParaRPr lang="en-US" sz="1500" dirty="0"/>
          </a:p>
        </p:txBody>
      </p:sp>
      <p:pic>
        <p:nvPicPr>
          <p:cNvPr id="32" name="Image 5" descr="Cristiane Andra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5689600"/>
            <a:ext cx="406400" cy="4064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661400" y="56896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Cristiane Andrade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661400" y="5905500"/>
            <a:ext cx="2921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Comunicação, HELM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37" name="Image 6" descr="Link">
            <a:hlinkClick r:id="rId9" tooltip="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39" name="Image 7" descr="Link">
            <a:hlinkClick r:id="rId12" tooltip="" action="ppaction://hlinksldjump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4200" y="406400"/>
            <a:ext cx="114300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en-US" sz="6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Marcas que </a:t>
            </a:r>
            <a:pPr algn="l" indent="0" marL="0">
              <a:lnSpc>
                <a:spcPts val="6760"/>
              </a:lnSpc>
              <a:buNone/>
            </a:pPr>
            <a:r>
              <a:rPr lang="en-US" sz="6500" i="1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constroem</a:t>
            </a:r>
            <a:endParaRPr lang="en-US" sz="6500" dirty="0"/>
          </a:p>
        </p:txBody>
      </p:sp>
      <p:sp>
        <p:nvSpPr>
          <p:cNvPr id="4" name="Text 2"/>
          <p:cNvSpPr txBox="1"/>
          <p:nvPr/>
        </p:nvSpPr>
        <p:spPr>
          <a:xfrm>
            <a:off x="584200" y="1219200"/>
            <a:ext cx="11430000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0"/>
              </a:lnSpc>
              <a:buNone/>
            </a:pPr>
            <a:r>
              <a:rPr lang="en-US" sz="6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 a gente.</a:t>
            </a:r>
            <a:endParaRPr lang="en-US" sz="6500" dirty="0"/>
          </a:p>
        </p:txBody>
      </p:sp>
      <p:sp>
        <p:nvSpPr>
          <p:cNvPr id="5" name="Shape 3"/>
          <p:cNvSpPr/>
          <p:nvPr/>
        </p:nvSpPr>
        <p:spPr>
          <a:xfrm>
            <a:off x="609600" y="25400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6" name="Image 0" descr="v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2736850"/>
            <a:ext cx="393700" cy="393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78050" y="25400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8" name="Image 1" descr="toyo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2822982"/>
            <a:ext cx="1079500" cy="2214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46500" y="25400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10" name="Image 2" descr="fo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738" y="2736850"/>
            <a:ext cx="993624" cy="3937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314950" y="25400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12" name="Image 3" descr="cortev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250" y="2811236"/>
            <a:ext cx="1079500" cy="24492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883400" y="25400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14" name="Image 4" descr="bas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412" y="2736850"/>
            <a:ext cx="1014076" cy="3937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451850" y="25400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16" name="Image 5" descr="fm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3150" y="2751828"/>
            <a:ext cx="1079500" cy="36374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10020300" y="25400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18" name="Image 6" descr="braske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1600" y="2756885"/>
            <a:ext cx="1079500" cy="353629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09600" y="33274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20" name="Image 7" descr="pepsic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00" y="3580973"/>
            <a:ext cx="1079500" cy="280255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2178050" y="33274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22" name="Image 8" descr="petrona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4788" y="3524250"/>
            <a:ext cx="988624" cy="393700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3746500" y="33274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24" name="Image 9" descr="ducat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198" y="3524250"/>
            <a:ext cx="368703" cy="393700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5314950" y="33274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26" name="Image 10" descr="harle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3894" y="3524250"/>
            <a:ext cx="504212" cy="393700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6883400" y="33274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28" name="Image 11" descr="mercede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3625" y="3524250"/>
            <a:ext cx="501650" cy="393700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8451850" y="33274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30" name="Image 12" descr="chevrole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11733" y="3524250"/>
            <a:ext cx="842335" cy="393700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10020300" y="33274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32" name="Image 13" descr="jaguar-landrove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1600" y="3569806"/>
            <a:ext cx="1079500" cy="302587"/>
          </a:xfrm>
          <a:prstGeom prst="rect">
            <a:avLst/>
          </a:prstGeom>
        </p:spPr>
      </p:pic>
      <p:sp>
        <p:nvSpPr>
          <p:cNvPr id="33" name="Shape 17"/>
          <p:cNvSpPr/>
          <p:nvPr/>
        </p:nvSpPr>
        <p:spPr>
          <a:xfrm>
            <a:off x="609600" y="41148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34" name="Image 14" descr="lexu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900" y="4394407"/>
            <a:ext cx="1079500" cy="228187"/>
          </a:xfrm>
          <a:prstGeom prst="rect">
            <a:avLst/>
          </a:prstGeom>
        </p:spPr>
      </p:pic>
      <p:sp>
        <p:nvSpPr>
          <p:cNvPr id="35" name="Shape 18"/>
          <p:cNvSpPr/>
          <p:nvPr/>
        </p:nvSpPr>
        <p:spPr>
          <a:xfrm>
            <a:off x="2178050" y="41148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36" name="Image 15" descr="pirelli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19350" y="4368305"/>
            <a:ext cx="1079500" cy="280390"/>
          </a:xfrm>
          <a:prstGeom prst="rect">
            <a:avLst/>
          </a:prstGeom>
        </p:spPr>
      </p:pic>
      <p:sp>
        <p:nvSpPr>
          <p:cNvPr id="37" name="Shape 19"/>
          <p:cNvSpPr/>
          <p:nvPr/>
        </p:nvSpPr>
        <p:spPr>
          <a:xfrm>
            <a:off x="3746500" y="41148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38" name="Image 16" descr="bridgeston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14824" y="4311650"/>
            <a:ext cx="1025451" cy="393700"/>
          </a:xfrm>
          <a:prstGeom prst="rect">
            <a:avLst/>
          </a:prstGeom>
        </p:spPr>
      </p:pic>
      <p:sp>
        <p:nvSpPr>
          <p:cNvPr id="39" name="Shape 20"/>
          <p:cNvSpPr/>
          <p:nvPr/>
        </p:nvSpPr>
        <p:spPr>
          <a:xfrm>
            <a:off x="5314950" y="41148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40" name="Image 17" descr="marelli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56357" y="4311650"/>
            <a:ext cx="479287" cy="393700"/>
          </a:xfrm>
          <a:prstGeom prst="rect">
            <a:avLst/>
          </a:prstGeom>
        </p:spPr>
      </p:pic>
      <p:sp>
        <p:nvSpPr>
          <p:cNvPr id="41" name="Shape 21"/>
          <p:cNvSpPr/>
          <p:nvPr/>
        </p:nvSpPr>
        <p:spPr>
          <a:xfrm>
            <a:off x="6883400" y="41148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42" name="Image 18" descr="polaris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24700" y="4414453"/>
            <a:ext cx="1079500" cy="188095"/>
          </a:xfrm>
          <a:prstGeom prst="rect">
            <a:avLst/>
          </a:prstGeom>
        </p:spPr>
      </p:pic>
      <p:sp>
        <p:nvSpPr>
          <p:cNvPr id="43" name="Shape 22"/>
          <p:cNvSpPr/>
          <p:nvPr/>
        </p:nvSpPr>
        <p:spPr>
          <a:xfrm>
            <a:off x="8451850" y="41148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44" name="Image 19" descr="india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9841" y="4311650"/>
            <a:ext cx="1046117" cy="393700"/>
          </a:xfrm>
          <a:prstGeom prst="rect">
            <a:avLst/>
          </a:prstGeom>
        </p:spPr>
      </p:pic>
      <p:sp>
        <p:nvSpPr>
          <p:cNvPr id="45" name="Shape 23"/>
          <p:cNvSpPr/>
          <p:nvPr/>
        </p:nvSpPr>
        <p:spPr>
          <a:xfrm>
            <a:off x="10020300" y="41148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46" name="Image 20" descr="troller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1600" y="4408192"/>
            <a:ext cx="1079500" cy="200615"/>
          </a:xfrm>
          <a:prstGeom prst="rect">
            <a:avLst/>
          </a:prstGeom>
        </p:spPr>
      </p:pic>
      <p:sp>
        <p:nvSpPr>
          <p:cNvPr id="47" name="Shape 24"/>
          <p:cNvSpPr/>
          <p:nvPr/>
        </p:nvSpPr>
        <p:spPr>
          <a:xfrm>
            <a:off x="609600" y="49022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48" name="Image 21" descr="lorenzetti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900" y="5200369"/>
            <a:ext cx="1079500" cy="191062"/>
          </a:xfrm>
          <a:prstGeom prst="rect">
            <a:avLst/>
          </a:prstGeom>
        </p:spPr>
      </p:pic>
      <p:sp>
        <p:nvSpPr>
          <p:cNvPr id="49" name="Shape 25"/>
          <p:cNvSpPr/>
          <p:nvPr/>
        </p:nvSpPr>
        <p:spPr>
          <a:xfrm>
            <a:off x="2178050" y="49022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50" name="Image 22" descr="sherwi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27905" y="5099050"/>
            <a:ext cx="862390" cy="393700"/>
          </a:xfrm>
          <a:prstGeom prst="rect">
            <a:avLst/>
          </a:prstGeom>
        </p:spPr>
      </p:pic>
      <p:sp>
        <p:nvSpPr>
          <p:cNvPr id="51" name="Shape 26"/>
          <p:cNvSpPr/>
          <p:nvPr/>
        </p:nvSpPr>
        <p:spPr>
          <a:xfrm>
            <a:off x="3746500" y="49022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52" name="Image 23" descr="lanxess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42292" y="5099050"/>
            <a:ext cx="970516" cy="393700"/>
          </a:xfrm>
          <a:prstGeom prst="rect">
            <a:avLst/>
          </a:prstGeom>
        </p:spPr>
      </p:pic>
      <p:sp>
        <p:nvSpPr>
          <p:cNvPr id="53" name="Shape 27"/>
          <p:cNvSpPr/>
          <p:nvPr/>
        </p:nvSpPr>
        <p:spPr>
          <a:xfrm>
            <a:off x="5314950" y="49022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54" name="Image 24" descr="helm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91075" y="5099050"/>
            <a:ext cx="609849" cy="393700"/>
          </a:xfrm>
          <a:prstGeom prst="rect">
            <a:avLst/>
          </a:prstGeom>
        </p:spPr>
      </p:pic>
      <p:sp>
        <p:nvSpPr>
          <p:cNvPr id="55" name="Shape 28"/>
          <p:cNvSpPr/>
          <p:nvPr/>
        </p:nvSpPr>
        <p:spPr>
          <a:xfrm>
            <a:off x="6883400" y="49022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56" name="Image 25" descr="polyplastics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24700" y="5194060"/>
            <a:ext cx="1079500" cy="203679"/>
          </a:xfrm>
          <a:prstGeom prst="rect">
            <a:avLst/>
          </a:prstGeom>
        </p:spPr>
      </p:pic>
      <p:sp>
        <p:nvSpPr>
          <p:cNvPr id="57" name="Shape 29"/>
          <p:cNvSpPr/>
          <p:nvPr/>
        </p:nvSpPr>
        <p:spPr>
          <a:xfrm>
            <a:off x="8451850" y="49022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58" name="Image 26" descr="tintasmc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51192" y="5099050"/>
            <a:ext cx="363415" cy="393700"/>
          </a:xfrm>
          <a:prstGeom prst="rect">
            <a:avLst/>
          </a:prstGeom>
        </p:spPr>
      </p:pic>
      <p:sp>
        <p:nvSpPr>
          <p:cNvPr id="59" name="Shape 30"/>
          <p:cNvSpPr/>
          <p:nvPr/>
        </p:nvSpPr>
        <p:spPr>
          <a:xfrm>
            <a:off x="10020300" y="49022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60" name="Image 27" descr="abrapa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61600" y="5146607"/>
            <a:ext cx="1079500" cy="298585"/>
          </a:xfrm>
          <a:prstGeom prst="rect">
            <a:avLst/>
          </a:prstGeom>
        </p:spPr>
      </p:pic>
      <p:sp>
        <p:nvSpPr>
          <p:cNvPr id="61" name="Shape 31"/>
          <p:cNvSpPr/>
          <p:nvPr/>
        </p:nvSpPr>
        <p:spPr>
          <a:xfrm>
            <a:off x="609600" y="56896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62" name="Image 28" descr="nupay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50900" y="5951453"/>
            <a:ext cx="1079500" cy="263695"/>
          </a:xfrm>
          <a:prstGeom prst="rect">
            <a:avLst/>
          </a:prstGeom>
        </p:spPr>
      </p:pic>
      <p:sp>
        <p:nvSpPr>
          <p:cNvPr id="63" name="Shape 32"/>
          <p:cNvSpPr/>
          <p:nvPr/>
        </p:nvSpPr>
        <p:spPr>
          <a:xfrm>
            <a:off x="2178050" y="56896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64" name="Image 29" descr="mutant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419350" y="5891488"/>
            <a:ext cx="1079500" cy="383624"/>
          </a:xfrm>
          <a:prstGeom prst="rect">
            <a:avLst/>
          </a:prstGeom>
        </p:spPr>
      </p:pic>
      <p:sp>
        <p:nvSpPr>
          <p:cNvPr id="65" name="Shape 33"/>
          <p:cNvSpPr/>
          <p:nvPr/>
        </p:nvSpPr>
        <p:spPr>
          <a:xfrm>
            <a:off x="3746500" y="56896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66" name="Image 30" descr="accenture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87800" y="5929793"/>
            <a:ext cx="1079500" cy="307014"/>
          </a:xfrm>
          <a:prstGeom prst="rect">
            <a:avLst/>
          </a:prstGeom>
        </p:spPr>
      </p:pic>
      <p:sp>
        <p:nvSpPr>
          <p:cNvPr id="67" name="Shape 34"/>
          <p:cNvSpPr/>
          <p:nvPr/>
        </p:nvSpPr>
        <p:spPr>
          <a:xfrm>
            <a:off x="5314950" y="56896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68" name="Image 31" descr="dell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95975" y="5886450"/>
            <a:ext cx="400050" cy="393700"/>
          </a:xfrm>
          <a:prstGeom prst="rect">
            <a:avLst/>
          </a:prstGeom>
        </p:spPr>
      </p:pic>
      <p:sp>
        <p:nvSpPr>
          <p:cNvPr id="69" name="Shape 35"/>
          <p:cNvSpPr/>
          <p:nvPr/>
        </p:nvSpPr>
        <p:spPr>
          <a:xfrm>
            <a:off x="6883400" y="56896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70" name="Image 32" descr="motorola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49429" y="5886450"/>
            <a:ext cx="430042" cy="393700"/>
          </a:xfrm>
          <a:prstGeom prst="rect">
            <a:avLst/>
          </a:prstGeom>
        </p:spPr>
      </p:pic>
      <p:sp>
        <p:nvSpPr>
          <p:cNvPr id="71" name="Shape 36"/>
          <p:cNvSpPr/>
          <p:nvPr/>
        </p:nvSpPr>
        <p:spPr>
          <a:xfrm>
            <a:off x="8451850" y="56896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72" name="Image 33" descr="spturis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93150" y="5897386"/>
            <a:ext cx="1079500" cy="371828"/>
          </a:xfrm>
          <a:prstGeom prst="rect">
            <a:avLst/>
          </a:prstGeom>
        </p:spPr>
      </p:pic>
      <p:sp>
        <p:nvSpPr>
          <p:cNvPr id="73" name="Shape 37"/>
          <p:cNvSpPr/>
          <p:nvPr/>
        </p:nvSpPr>
        <p:spPr>
          <a:xfrm>
            <a:off x="10020300" y="5689600"/>
            <a:ext cx="1568450" cy="6350"/>
          </a:xfrm>
          <a:prstGeom prst="rect">
            <a:avLst/>
          </a:prstGeom>
          <a:solidFill>
            <a:srgbClr val="CFC8BC"/>
          </a:solidFill>
          <a:ln/>
        </p:spPr>
      </p:sp>
      <p:pic>
        <p:nvPicPr>
          <p:cNvPr id="74" name="Image 34" descr="ae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04500" y="5886450"/>
            <a:ext cx="393700" cy="393700"/>
          </a:xfrm>
          <a:prstGeom prst="rect">
            <a:avLst/>
          </a:prstGeom>
        </p:spPr>
      </p:pic>
      <p:sp>
        <p:nvSpPr>
          <p:cNvPr id="75" name="Shape 38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76" name="Text 39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77" name="Image 35" descr="Link">
            <a:hlinkClick r:id="rId38" tooltip="" action="ppaction://hlinksldjump"/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78" name="Text 40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79" name="Image 36" descr="Link">
            <a:hlinkClick r:id="rId41" tooltip="" action="ppaction://hlinksldjump"/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  <p:pic>
        <p:nvPicPr>
          <p:cNvPr id="80" name="Image 37" descr="Link">
            <a:hlinkClick r:id="rId43" tooltip="" action="ppaction://hlinksldjump"/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9600" y="2540000"/>
            <a:ext cx="1568450" cy="787400"/>
          </a:xfrm>
          <a:prstGeom prst="rect">
            <a:avLst/>
          </a:prstGeom>
        </p:spPr>
      </p:pic>
      <p:pic>
        <p:nvPicPr>
          <p:cNvPr id="81" name="Image 38" descr="Link">
            <a:hlinkClick r:id="rId45" tooltip="" action="ppaction://hlinksldjump"/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178050" y="2540000"/>
            <a:ext cx="1568450" cy="787400"/>
          </a:xfrm>
          <a:prstGeom prst="rect">
            <a:avLst/>
          </a:prstGeom>
        </p:spPr>
      </p:pic>
      <p:pic>
        <p:nvPicPr>
          <p:cNvPr id="82" name="Image 39" descr="Link">
            <a:hlinkClick r:id="rId47" tooltip="" action="ppaction://hlinksldjump"/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746500" y="2540000"/>
            <a:ext cx="1568450" cy="787400"/>
          </a:xfrm>
          <a:prstGeom prst="rect">
            <a:avLst/>
          </a:prstGeom>
        </p:spPr>
      </p:pic>
      <p:pic>
        <p:nvPicPr>
          <p:cNvPr id="83" name="Image 40" descr="Link">
            <a:hlinkClick r:id="rId49" tooltip="" action="ppaction://hlinksldjump"/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314950" y="2540000"/>
            <a:ext cx="1568450" cy="787400"/>
          </a:xfrm>
          <a:prstGeom prst="rect">
            <a:avLst/>
          </a:prstGeom>
        </p:spPr>
      </p:pic>
      <p:pic>
        <p:nvPicPr>
          <p:cNvPr id="84" name="Image 41" descr="Link">
            <a:hlinkClick r:id="rId51" tooltip="" action="ppaction://hlinksldjump"/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883400" y="2540000"/>
            <a:ext cx="1568450" cy="787400"/>
          </a:xfrm>
          <a:prstGeom prst="rect">
            <a:avLst/>
          </a:prstGeom>
        </p:spPr>
      </p:pic>
      <p:pic>
        <p:nvPicPr>
          <p:cNvPr id="85" name="Image 42" descr="Link">
            <a:hlinkClick r:id="rId53" tooltip="" action="ppaction://hlinksldjump"/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451850" y="2540000"/>
            <a:ext cx="1568450" cy="787400"/>
          </a:xfrm>
          <a:prstGeom prst="rect">
            <a:avLst/>
          </a:prstGeom>
        </p:spPr>
      </p:pic>
      <p:pic>
        <p:nvPicPr>
          <p:cNvPr id="86" name="Image 43" descr="Link">
            <a:hlinkClick r:id="rId55" tooltip="" action="ppaction://hlinksldjump"/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020300" y="2540000"/>
            <a:ext cx="1568450" cy="787400"/>
          </a:xfrm>
          <a:prstGeom prst="rect">
            <a:avLst/>
          </a:prstGeom>
        </p:spPr>
      </p:pic>
      <p:pic>
        <p:nvPicPr>
          <p:cNvPr id="87" name="Image 44" descr="Link">
            <a:hlinkClick r:id="rId57" tooltip="" action="ppaction://hlinksldjump"/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09600" y="3327400"/>
            <a:ext cx="1568450" cy="787400"/>
          </a:xfrm>
          <a:prstGeom prst="rect">
            <a:avLst/>
          </a:prstGeom>
        </p:spPr>
      </p:pic>
      <p:pic>
        <p:nvPicPr>
          <p:cNvPr id="88" name="Image 45" descr="Link">
            <a:hlinkClick r:id="rId59" tooltip="" action="ppaction://hlinksldjump"/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178050" y="3327400"/>
            <a:ext cx="1568450" cy="787400"/>
          </a:xfrm>
          <a:prstGeom prst="rect">
            <a:avLst/>
          </a:prstGeom>
        </p:spPr>
      </p:pic>
      <p:pic>
        <p:nvPicPr>
          <p:cNvPr id="89" name="Image 46" descr="Link">
            <a:hlinkClick r:id="rId61" tooltip="" action="ppaction://hlinksldjump"/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746500" y="3327400"/>
            <a:ext cx="1568450" cy="787400"/>
          </a:xfrm>
          <a:prstGeom prst="rect">
            <a:avLst/>
          </a:prstGeom>
        </p:spPr>
      </p:pic>
      <p:pic>
        <p:nvPicPr>
          <p:cNvPr id="90" name="Image 47" descr="Link">
            <a:hlinkClick r:id="rId63" tooltip="" action="ppaction://hlinksldjump"/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314950" y="3327400"/>
            <a:ext cx="1568450" cy="787400"/>
          </a:xfrm>
          <a:prstGeom prst="rect">
            <a:avLst/>
          </a:prstGeom>
        </p:spPr>
      </p:pic>
      <p:pic>
        <p:nvPicPr>
          <p:cNvPr id="91" name="Image 48" descr="Link">
            <a:hlinkClick r:id="rId65" tooltip="" action="ppaction://hlinksldjump"/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09600" y="4902200"/>
            <a:ext cx="1568450" cy="787400"/>
          </a:xfrm>
          <a:prstGeom prst="rect">
            <a:avLst/>
          </a:prstGeom>
        </p:spPr>
      </p:pic>
      <p:pic>
        <p:nvPicPr>
          <p:cNvPr id="92" name="Image 49" descr="Link">
            <a:hlinkClick r:id="rId67" tooltip="" action="ppaction://hlinksldjump"/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178050" y="4902200"/>
            <a:ext cx="1568450" cy="787400"/>
          </a:xfrm>
          <a:prstGeom prst="rect">
            <a:avLst/>
          </a:prstGeom>
        </p:spPr>
      </p:pic>
      <p:pic>
        <p:nvPicPr>
          <p:cNvPr id="93" name="Image 50" descr="Link">
            <a:hlinkClick r:id="rId69" tooltip="" action="ppaction://hlinksldjump"/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9600" y="5689600"/>
            <a:ext cx="1568450" cy="787400"/>
          </a:xfrm>
          <a:prstGeom prst="rect">
            <a:avLst/>
          </a:prstGeom>
        </p:spPr>
      </p:pic>
      <p:pic>
        <p:nvPicPr>
          <p:cNvPr id="94" name="Image 51" descr="Link">
            <a:hlinkClick r:id="rId71" tooltip="" action="ppaction://hlinksldjump"/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178050" y="5689600"/>
            <a:ext cx="156845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rraço da casa da Stap com o letreiro Stap Feel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claude-0/-home-claude/8e1ee178-3aa5-5bd7-bb29-abd60da1bf1a/scratchpad/pptx/img/g587d240172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609600"/>
            <a:ext cx="635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9ED0F0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 CASA DA STAP · RUA PRESTES JOÃO, 140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84200" y="1016000"/>
            <a:ext cx="698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15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Sinta-se</a:t>
            </a:r>
            <a:endParaRPr lang="en-US" sz="11500" dirty="0"/>
          </a:p>
        </p:txBody>
      </p:sp>
      <p:sp>
        <p:nvSpPr>
          <p:cNvPr id="6" name="Text 2"/>
          <p:cNvSpPr txBox="1"/>
          <p:nvPr/>
        </p:nvSpPr>
        <p:spPr>
          <a:xfrm>
            <a:off x="584200" y="2476500"/>
            <a:ext cx="698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1500" i="1" spc="-100" kern="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em casa.</a:t>
            </a:r>
            <a:endParaRPr lang="en-US" sz="115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4318000"/>
            <a:ext cx="520700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Mais que um escritório, uma casa de inspiração. Estratégia, projeto, criação e execução acontecem lado a lado, no mesmo endereço.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09600" y="5397500"/>
            <a:ext cx="571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“Trabalhar com a Stap pra mim é me sentir em casa.”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09600" y="6096000"/>
            <a:ext cx="5715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Fernanda Maluf, Marketing, Braskem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2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4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E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E9E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84200" y="355600"/>
            <a:ext cx="69850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Quem </a:t>
            </a:r>
            <a:pPr algn="l" indent="0" marL="0">
              <a:lnSpc>
                <a:spcPts val="7650"/>
              </a:lnSpc>
              <a:buNone/>
            </a:pPr>
            <a:r>
              <a:rPr lang="en-US" sz="7500" i="1" spc="-100" kern="0" dirty="0">
                <a:solidFill>
                  <a:srgbClr val="0B1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constrói.</a:t>
            </a:r>
            <a:endParaRPr lang="en-US" sz="7500" dirty="0"/>
          </a:p>
        </p:txBody>
      </p:sp>
      <p:sp>
        <p:nvSpPr>
          <p:cNvPr id="4" name="Text 2"/>
          <p:cNvSpPr txBox="1"/>
          <p:nvPr/>
        </p:nvSpPr>
        <p:spPr>
          <a:xfrm>
            <a:off x="8026400" y="762000"/>
            <a:ext cx="3556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A465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Uma equipe que pensa, desenha, produz e monta na mesma casa.</a:t>
            </a:r>
            <a:endParaRPr lang="en-US" sz="1300" dirty="0"/>
          </a:p>
        </p:txBody>
      </p:sp>
      <p:pic>
        <p:nvPicPr>
          <p:cNvPr id="5" name="Image 0" descr="Ricardo Go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714500"/>
            <a:ext cx="1282700" cy="14605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6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Ricardo Gomes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Founder</a:t>
            </a:r>
            <a:endParaRPr lang="en-US" sz="1200" dirty="0"/>
          </a:p>
        </p:txBody>
      </p:sp>
      <p:pic>
        <p:nvPicPr>
          <p:cNvPr id="8" name="Image 1" descr="Virginia Carrier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1714500"/>
            <a:ext cx="1282700" cy="14605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939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Virginia Carrieri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9939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CEO</a:t>
            </a:r>
            <a:endParaRPr lang="en-US" sz="1200" dirty="0"/>
          </a:p>
        </p:txBody>
      </p:sp>
      <p:pic>
        <p:nvPicPr>
          <p:cNvPr id="11" name="Image 2" descr="Mari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00" y="1714500"/>
            <a:ext cx="1282700" cy="14605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782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Marise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33782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CEO · Amei de Paixão</a:t>
            </a:r>
            <a:endParaRPr lang="en-US" sz="1200" dirty="0"/>
          </a:p>
        </p:txBody>
      </p:sp>
      <p:pic>
        <p:nvPicPr>
          <p:cNvPr id="14" name="Image 3" descr="Cremone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1714500"/>
            <a:ext cx="1282700" cy="14605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625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Cremonesi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7625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COO</a:t>
            </a:r>
            <a:endParaRPr lang="en-US" sz="1200" dirty="0"/>
          </a:p>
        </p:txBody>
      </p:sp>
      <p:pic>
        <p:nvPicPr>
          <p:cNvPr id="17" name="Image 4" descr="Silmar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1714500"/>
            <a:ext cx="1282700" cy="14605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1468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Silmara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61468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Diretora financeira</a:t>
            </a:r>
            <a:endParaRPr lang="en-US" sz="1200" dirty="0"/>
          </a:p>
        </p:txBody>
      </p:sp>
      <p:pic>
        <p:nvPicPr>
          <p:cNvPr id="20" name="Image 5" descr="Adrian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100" y="1714500"/>
            <a:ext cx="1282700" cy="14605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5311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Adriano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75311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Arquiteto</a:t>
            </a:r>
            <a:endParaRPr lang="en-US" sz="1200" dirty="0"/>
          </a:p>
        </p:txBody>
      </p:sp>
      <p:pic>
        <p:nvPicPr>
          <p:cNvPr id="23" name="Image 6" descr="Kc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1714500"/>
            <a:ext cx="1282700" cy="14605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9154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Kco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89154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Head of Art</a:t>
            </a:r>
            <a:endParaRPr lang="en-US" sz="1200" dirty="0"/>
          </a:p>
        </p:txBody>
      </p:sp>
      <p:pic>
        <p:nvPicPr>
          <p:cNvPr id="26" name="Image 7" descr="Paul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9700" y="1714500"/>
            <a:ext cx="1282700" cy="14605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299700" y="3263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Paula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10299700" y="3492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3D Designer</a:t>
            </a:r>
            <a:endParaRPr lang="en-US" sz="1200" dirty="0"/>
          </a:p>
        </p:txBody>
      </p:sp>
      <p:pic>
        <p:nvPicPr>
          <p:cNvPr id="29" name="Image 8" descr="Wagn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127500"/>
            <a:ext cx="1282700" cy="14605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609600" y="5676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Wagner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609600" y="5905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Arte final</a:t>
            </a:r>
            <a:endParaRPr lang="en-US" sz="1200" dirty="0"/>
          </a:p>
        </p:txBody>
      </p:sp>
      <p:pic>
        <p:nvPicPr>
          <p:cNvPr id="32" name="Image 9" descr="Geovani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900" y="4127500"/>
            <a:ext cx="1282700" cy="14605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993900" y="5676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Geovani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1993900" y="5905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Head de produção</a:t>
            </a:r>
            <a:endParaRPr lang="en-US" sz="1200" dirty="0"/>
          </a:p>
        </p:txBody>
      </p:sp>
      <p:pic>
        <p:nvPicPr>
          <p:cNvPr id="35" name="Image 10" descr="Ana Célia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8200" y="4127500"/>
            <a:ext cx="1282700" cy="14605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378200" y="5676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Ana Célia</a:t>
            </a:r>
            <a:endParaRPr lang="en-US" sz="1200" dirty="0"/>
          </a:p>
        </p:txBody>
      </p:sp>
      <p:sp>
        <p:nvSpPr>
          <p:cNvPr id="37" name="Text 24"/>
          <p:cNvSpPr txBox="1"/>
          <p:nvPr/>
        </p:nvSpPr>
        <p:spPr>
          <a:xfrm>
            <a:off x="3378200" y="5905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Pré-produção</a:t>
            </a:r>
            <a:endParaRPr lang="en-US" sz="1200" dirty="0"/>
          </a:p>
        </p:txBody>
      </p:sp>
      <p:pic>
        <p:nvPicPr>
          <p:cNvPr id="38" name="Image 11" descr="Flávia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0" y="4127500"/>
            <a:ext cx="1282700" cy="14605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4762500" y="5676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Flávia</a:t>
            </a:r>
            <a:endParaRPr lang="en-US" sz="1200" dirty="0"/>
          </a:p>
        </p:txBody>
      </p:sp>
      <p:sp>
        <p:nvSpPr>
          <p:cNvPr id="40" name="Text 26"/>
          <p:cNvSpPr txBox="1"/>
          <p:nvPr/>
        </p:nvSpPr>
        <p:spPr>
          <a:xfrm>
            <a:off x="4762500" y="5905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Gerente de contas</a:t>
            </a:r>
            <a:endParaRPr lang="en-US" sz="1200" dirty="0"/>
          </a:p>
        </p:txBody>
      </p:sp>
      <p:pic>
        <p:nvPicPr>
          <p:cNvPr id="41" name="Image 12" descr="Giulian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6800" y="4127500"/>
            <a:ext cx="1282700" cy="146050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6146800" y="5676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Giuliana</a:t>
            </a:r>
            <a:endParaRPr lang="en-US" sz="1200" dirty="0"/>
          </a:p>
        </p:txBody>
      </p:sp>
      <p:sp>
        <p:nvSpPr>
          <p:cNvPr id="43" name="Text 28"/>
          <p:cNvSpPr txBox="1"/>
          <p:nvPr/>
        </p:nvSpPr>
        <p:spPr>
          <a:xfrm>
            <a:off x="6146800" y="5905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Gerente de contas</a:t>
            </a:r>
            <a:endParaRPr lang="en-US" sz="1200" dirty="0"/>
          </a:p>
        </p:txBody>
      </p:sp>
      <p:pic>
        <p:nvPicPr>
          <p:cNvPr id="44" name="Image 13" descr="Cacá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1100" y="4127500"/>
            <a:ext cx="1282700" cy="1460500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7531100" y="5676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Cacá</a:t>
            </a:r>
            <a:endParaRPr lang="en-US" sz="1200" dirty="0"/>
          </a:p>
        </p:txBody>
      </p:sp>
      <p:sp>
        <p:nvSpPr>
          <p:cNvPr id="46" name="Text 30"/>
          <p:cNvSpPr txBox="1"/>
          <p:nvPr/>
        </p:nvSpPr>
        <p:spPr>
          <a:xfrm>
            <a:off x="7531100" y="5905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Gerente de contas</a:t>
            </a:r>
            <a:endParaRPr lang="en-US" sz="1200" dirty="0"/>
          </a:p>
        </p:txBody>
      </p:sp>
      <p:pic>
        <p:nvPicPr>
          <p:cNvPr id="47" name="Image 14" descr="Bia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15400" y="4127500"/>
            <a:ext cx="1282700" cy="146050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915400" y="5676900"/>
            <a:ext cx="133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B1C2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Bia</a:t>
            </a:r>
            <a:endParaRPr lang="en-US" sz="1200" dirty="0"/>
          </a:p>
        </p:txBody>
      </p:sp>
      <p:sp>
        <p:nvSpPr>
          <p:cNvPr id="49" name="Text 32"/>
          <p:cNvSpPr txBox="1"/>
          <p:nvPr/>
        </p:nvSpPr>
        <p:spPr>
          <a:xfrm>
            <a:off x="8915400" y="5905500"/>
            <a:ext cx="12827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A6676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Secretária</a:t>
            </a:r>
            <a:endParaRPr lang="en-US" sz="1200" dirty="0"/>
          </a:p>
        </p:txBody>
      </p:sp>
      <p:sp>
        <p:nvSpPr>
          <p:cNvPr id="50" name="Shape 33"/>
          <p:cNvSpPr/>
          <p:nvPr/>
        </p:nvSpPr>
        <p:spPr>
          <a:xfrm>
            <a:off x="10299700" y="4127500"/>
            <a:ext cx="1282700" cy="1460500"/>
          </a:xfrm>
          <a:prstGeom prst="rect">
            <a:avLst/>
          </a:prstGeom>
          <a:solidFill>
            <a:srgbClr val="0B1C2D"/>
          </a:solidFill>
          <a:ln/>
        </p:spPr>
      </p:sp>
      <p:sp>
        <p:nvSpPr>
          <p:cNvPr id="51" name="Text 34"/>
          <p:cNvSpPr txBox="1"/>
          <p:nvPr/>
        </p:nvSpPr>
        <p:spPr>
          <a:xfrm>
            <a:off x="10414000" y="4279900"/>
            <a:ext cx="10795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Venha construir </a:t>
            </a:r>
            <a:pPr algn="l" indent="0" marL="0">
              <a:lnSpc>
                <a:spcPts val="1980"/>
              </a:lnSpc>
              <a:buNone/>
            </a:pPr>
            <a:r>
              <a:rPr lang="en-US" sz="1800" i="1" dirty="0">
                <a:solidFill>
                  <a:srgbClr val="9ED0F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 a gente.</a:t>
            </a:r>
            <a:endParaRPr lang="en-US" sz="1800" dirty="0"/>
          </a:p>
        </p:txBody>
      </p:sp>
      <p:sp>
        <p:nvSpPr>
          <p:cNvPr id="52" name="Shape 35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E3DDD2"/>
          </a:solidFill>
          <a:ln w="9525">
            <a:solidFill>
              <a:srgbClr val="BDB5A8"/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54" name="Image 15" descr="Link">
            <a:hlinkClick r:id="rId18" tooltip="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1B2A3D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56" name="Image 16" descr="Link">
            <a:hlinkClick r:id="rId21" tooltip="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8e1ee178-3aa5-5bd7-bb29-abd60da1bf1a/scratchpad/pptx/img/557bf7d872f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tap Feel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70" y="508000"/>
            <a:ext cx="1123261" cy="50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09600" y="1905000"/>
            <a:ext cx="381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CONTATO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84200" y="2222500"/>
            <a:ext cx="11430000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80"/>
              </a:lnSpc>
              <a:buNone/>
            </a:pPr>
            <a:r>
              <a:rPr lang="en-US" sz="95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Vamos construir</a:t>
            </a:r>
            <a:endParaRPr lang="en-US" sz="9500" dirty="0"/>
          </a:p>
        </p:txBody>
      </p:sp>
      <p:sp>
        <p:nvSpPr>
          <p:cNvPr id="6" name="Text 2"/>
          <p:cNvSpPr txBox="1"/>
          <p:nvPr/>
        </p:nvSpPr>
        <p:spPr>
          <a:xfrm>
            <a:off x="1524000" y="3479800"/>
            <a:ext cx="10795000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80"/>
              </a:lnSpc>
              <a:buNone/>
            </a:pPr>
            <a:r>
              <a:rPr lang="en-US" sz="9500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 próximo </a:t>
            </a:r>
            <a:pPr algn="l" indent="0" marL="0">
              <a:lnSpc>
                <a:spcPts val="9880"/>
              </a:lnSpc>
              <a:buNone/>
            </a:pPr>
            <a:r>
              <a:rPr lang="en-US" sz="9500" i="1" spc="-100" kern="0" dirty="0">
                <a:solidFill>
                  <a:srgbClr val="EE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capítulo?</a:t>
            </a:r>
            <a:endParaRPr lang="en-US" sz="9500" dirty="0"/>
          </a:p>
        </p:txBody>
      </p:sp>
      <p:sp>
        <p:nvSpPr>
          <p:cNvPr id="7" name="Text 3"/>
          <p:cNvSpPr txBox="1"/>
          <p:nvPr/>
        </p:nvSpPr>
        <p:spPr>
          <a:xfrm>
            <a:off x="609600" y="5461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E-MAIL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09600" y="5715000"/>
            <a:ext cx="317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contato@stap.com.br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810000" y="5461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TELEFONE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810000" y="5715000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+55 11 5908-0404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604000" y="5461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604000" y="5715000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@stapfeelings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042400" y="5461000"/>
            <a:ext cx="254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250" kern="0" dirty="0">
                <a:solidFill>
                  <a:srgbClr val="B4C3D3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CASA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042400" y="5715000"/>
            <a:ext cx="254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EE9E1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</a:rPr>
              <a:t>Rua Prestes João, 140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045700" y="6324600"/>
            <a:ext cx="1841500" cy="279400"/>
          </a:xfrm>
          <a:prstGeom prst="rect">
            <a:avLst/>
          </a:prstGeom>
          <a:solidFill>
            <a:srgbClr val="0B1C2D"/>
          </a:solidFill>
          <a:ln w="9525">
            <a:solidFill>
              <a:srgbClr val="3B557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210800" y="6400800"/>
            <a:ext cx="4699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</a:t>
            </a:r>
            <a:endParaRPr lang="en-US" sz="900" dirty="0"/>
          </a:p>
        </p:txBody>
      </p:sp>
      <p:pic>
        <p:nvPicPr>
          <p:cNvPr id="17" name="Image 2" descr="Link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0" y="6324600"/>
            <a:ext cx="571500" cy="2794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883900" y="6400800"/>
            <a:ext cx="863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u="sng" spc="150" kern="0" dirty="0">
                <a:solidFill>
                  <a:srgbClr val="DCE6F2"/>
                </a:solidFill>
                <a:latin typeface="PP Right Grotesk Text" pitchFamily="34" charset="0"/>
                <a:ea typeface="PP Right Grotesk Text" pitchFamily="34" charset="-122"/>
                <a:cs typeface="PP Right Grotesk Text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CLIENTES</a:t>
            </a:r>
            <a:endParaRPr lang="en-US" sz="900" dirty="0"/>
          </a:p>
        </p:txBody>
      </p:sp>
      <p:pic>
        <p:nvPicPr>
          <p:cNvPr id="19" name="Image 3" descr="Link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0400" y="6324600"/>
            <a:ext cx="965200" cy="279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strument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P Right Grotesk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Stap — Apresentação comercial</dc:title>
  <dc:subject>PptxGenJS Presentation</dc:subject>
  <dc:creator>Stap Feelings</dc:creator>
  <cp:lastModifiedBy>Stap Feelings</cp:lastModifiedBy>
  <cp:revision>1</cp:revision>
  <dcterms:created xsi:type="dcterms:W3CDTF">2026-10-27T21:26:37Z</dcterms:created>
  <dcterms:modified xsi:type="dcterms:W3CDTF">2026-10-27T21:26:37Z</dcterms:modified>
</cp:coreProperties>
</file>